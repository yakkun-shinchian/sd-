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9144000"/>
  <p:notesSz cx="9144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5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5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5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5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5.png"/><Relationship Id="rId13" Type="http://schemas.openxmlformats.org/officeDocument/2006/relationships/image" Target="../media/image-6-6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5.png"/><Relationship Id="rId13" Type="http://schemas.openxmlformats.org/officeDocument/2006/relationships/image" Target="../media/image-7-6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2.png"/><Relationship Id="rId9" Type="http://schemas.openxmlformats.org/officeDocument/2006/relationships/image" Target="../media/image-9-3.png"/><Relationship Id="rId10" Type="http://schemas.openxmlformats.org/officeDocument/2006/relationships/image" Target="../media/image-9-4.png"/><Relationship Id="rId11" Type="http://schemas.openxmlformats.org/officeDocument/2006/relationships/image" Target="../media/image-9-5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1.png"/><Relationship Id="rId4" Type="http://schemas.openxmlformats.org/officeDocument/2006/relationships/image" Target="../media/image-10-2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1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4.png"/><Relationship Id="rId11" Type="http://schemas.openxmlformats.org/officeDocument/2006/relationships/image" Target="../media/image-11-5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2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4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2.png"/><Relationship Id="rId5" Type="http://schemas.openxmlformats.org/officeDocument/2006/relationships/image" Target="../media/image-13-1.png"/><Relationship Id="rId6" Type="http://schemas.openxmlformats.org/officeDocument/2006/relationships/image" Target="../media/image-13-6.png"/><Relationship Id="rId7" Type="http://schemas.openxmlformats.org/officeDocument/2006/relationships/image" Target="../media/image-13-1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3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パス01　頚動脈ステント留置術（CAS）　患者さん用クリニカルパス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治療：頚動脈ステント留置術(CAS)を受ける方へ　※病状・検査結果により予定は変更になることがあります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6" name="Image 0" descr="/tmp/claude-0/-home-user-SD-/6071e542-76be-5aaa-a13b-481d427eef5d/scratchpad/pathway-pptx/icons/ad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027" y="996696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176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入院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06547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230069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0" name="Image 1" descr="/tmp/claude-0/-home-user-SD-/6071e542-76be-5aaa-a13b-481d427eef5d/scratchpad/pathway-pptx/icons/pr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6776" y="9966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220925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検査・準備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02122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185818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4" name="Image 2" descr="/tmp/claude-0/-home-user-SD-/6071e542-76be-5aaa-a13b-481d427eef5d/scratchpad/pathway-pptx/icons/tr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2525" y="996696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76674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治療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(ステント留置)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597697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141568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8" name="Image 3" descr="/tmp/claude-0/-home-user-SD-/6071e542-76be-5aaa-a13b-481d427eef5d/scratchpad/pathway-pptx/icons/sc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8274" y="99669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132424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安静・経過観察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7932725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7317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2" name="Image 4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4023" y="996696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088173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歩行開始・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リハビリ</a:t>
            </a:r>
            <a:endParaRPr lang="en-US" sz="800" dirty="0"/>
          </a:p>
        </p:txBody>
      </p:sp>
      <p:sp>
        <p:nvSpPr>
          <p:cNvPr id="24" name="Text 17"/>
          <p:cNvSpPr/>
          <p:nvPr/>
        </p:nvSpPr>
        <p:spPr>
          <a:xfrm>
            <a:off x="988847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10053066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6" name="Image 5" descr="/tmp/claude-0/-home-user-SD-/6071e542-76be-5aaa-a13b-481d427eef5d/scratchpad/pathway-pptx/icons/h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9773" y="996696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043922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退院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819656"/>
          <a:ext cx="117344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34440"/>
                <a:gridCol w="1681429"/>
                <a:gridCol w="1681429"/>
                <a:gridCol w="1681429"/>
                <a:gridCol w="1681429"/>
                <a:gridCol w="1681429"/>
                <a:gridCol w="1681429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日・時期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治療当日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治療直後〜夜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翌日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648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今日の目標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治療の準備が整う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体の状態を確認する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安全に治療を受ける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出血がなく血圧が安定する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起き上がって歩ける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家での過ごし方が分かる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834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検査・治療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血液検査(腎臓の働きを確認)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血液検査、心電図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点滴開始(腎臓を守るため)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血圧・脈・手足の動きを繰り返し確認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血液検査(腎臓の働き)、傷の確認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診察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4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血をサラサラにする薬を始めます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いつもの薬を確認します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決められた薬のみ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点滴を続けます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血をサラサラにする薬を続けます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退院のお薬をお渡しします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648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夜から食事を止めます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医師の指示で食事再開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お食事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お食事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4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安静・歩行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制限なし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制限なし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ベッドで安静。管を入れた場所を押さえています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安静解除後、座る→立つ→歩くの順に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制限なし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648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排泄・清潔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通常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治療前にお手洗いへ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ベッドの上で行います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お手洗いまで歩けます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4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説明・練習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術後の過ごし方の説明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声かけの方法の説明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異常時のナースコール方法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歩くときの注意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薬の説明、脳梗塞のサインの説明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pic>
        <p:nvPicPr>
          <p:cNvPr id="29" name="Image 6" descr="/tmp/claude-0/-home-user-SD-/6071e542-76be-5aaa-a13b-481d427eef5d/scratchpad/pathway-pptx/icons/reas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" y="2464109"/>
            <a:ext cx="274320" cy="274320"/>
          </a:xfrm>
          <a:prstGeom prst="rect">
            <a:avLst/>
          </a:prstGeom>
        </p:spPr>
      </p:pic>
      <p:pic>
        <p:nvPicPr>
          <p:cNvPr id="30" name="Image 7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" y="3205867"/>
            <a:ext cx="274320" cy="274320"/>
          </a:xfrm>
          <a:prstGeom prst="rect">
            <a:avLst/>
          </a:prstGeom>
        </p:spPr>
      </p:pic>
      <p:pic>
        <p:nvPicPr>
          <p:cNvPr id="31" name="Image 8" descr="/tmp/claude-0/-home-user-SD-/6071e542-76be-5aaa-a13b-481d427eef5d/scratchpad/pathway-pptx/icons/dru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" y="4040555"/>
            <a:ext cx="274320" cy="274320"/>
          </a:xfrm>
          <a:prstGeom prst="rect">
            <a:avLst/>
          </a:prstGeom>
        </p:spPr>
      </p:pic>
      <p:pic>
        <p:nvPicPr>
          <p:cNvPr id="32" name="Image 9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" y="4782312"/>
            <a:ext cx="274320" cy="274320"/>
          </a:xfrm>
          <a:prstGeom prst="rect">
            <a:avLst/>
          </a:prstGeom>
        </p:spPr>
      </p:pic>
      <p:pic>
        <p:nvPicPr>
          <p:cNvPr id="33" name="Image 10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176" y="5524069"/>
            <a:ext cx="274320" cy="274320"/>
          </a:xfrm>
          <a:prstGeom prst="rect">
            <a:avLst/>
          </a:prstGeom>
        </p:spPr>
      </p:pic>
      <p:pic>
        <p:nvPicPr>
          <p:cNvPr id="34" name="Image 11" descr="/tmp/claude-0/-home-user-SD-/6071e542-76be-5aaa-a13b-481d427eef5d/scratchpad/pathway-pptx/icons/clea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176" y="6265827"/>
            <a:ext cx="274320" cy="274320"/>
          </a:xfrm>
          <a:prstGeom prst="rect">
            <a:avLst/>
          </a:prstGeom>
        </p:spPr>
      </p:pic>
      <p:pic>
        <p:nvPicPr>
          <p:cNvPr id="35" name="Image 12" descr="/tmp/claude-0/-home-user-SD-/6071e542-76be-5aaa-a13b-481d427eef5d/scratchpad/pathway-pptx/icons/not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" y="7007584"/>
            <a:ext cx="274320" cy="274320"/>
          </a:xfrm>
          <a:prstGeom prst="rect">
            <a:avLst/>
          </a:prstGeom>
        </p:spPr>
      </p:pic>
      <p:sp>
        <p:nvSpPr>
          <p:cNvPr id="36" name="Shape 20"/>
          <p:cNvSpPr/>
          <p:nvPr/>
        </p:nvSpPr>
        <p:spPr>
          <a:xfrm>
            <a:off x="228600" y="7671816"/>
            <a:ext cx="11734495" cy="1362456"/>
          </a:xfrm>
          <a:prstGeom prst="roundRect">
            <a:avLst>
              <a:gd name="adj" fmla="val 4027"/>
            </a:avLst>
          </a:prstGeom>
          <a:solidFill>
            <a:srgbClr val="FCE8E8"/>
          </a:solidFill>
          <a:ln w="15875">
            <a:solidFill>
              <a:srgbClr val="C53030"/>
            </a:solidFill>
            <a:prstDash val="solid"/>
          </a:ln>
        </p:spPr>
      </p:sp>
      <p:pic>
        <p:nvPicPr>
          <p:cNvPr id="37" name="Image 13" descr="/tmp/claude-0/-home-user-SD-/6071e542-76be-5aaa-a13b-481d427eef5d/scratchpad/pathway-pptx/icons/war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4048" y="7799832"/>
            <a:ext cx="347472" cy="347472"/>
          </a:xfrm>
          <a:prstGeom prst="rect">
            <a:avLst/>
          </a:prstGeom>
        </p:spPr>
      </p:pic>
      <p:sp>
        <p:nvSpPr>
          <p:cNvPr id="38" name="Text 21"/>
          <p:cNvSpPr/>
          <p:nvPr/>
        </p:nvSpPr>
        <p:spPr>
          <a:xfrm>
            <a:off x="841248" y="7726680"/>
            <a:ext cx="11048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この症状があれば、すぐにナースコール・受診してください</a:t>
            </a:r>
            <a:endParaRPr lang="en-US" sz="1100" dirty="0"/>
          </a:p>
        </p:txBody>
      </p:sp>
      <p:sp>
        <p:nvSpPr>
          <p:cNvPr id="39" name="Text 22"/>
          <p:cNvSpPr/>
          <p:nvPr/>
        </p:nvSpPr>
        <p:spPr>
          <a:xfrm>
            <a:off x="841248" y="8001000"/>
            <a:ext cx="1104869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・手や足が急に動かしにくい、力が入らない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・言葉が出にくい、ろれつが回らない、顔の片側がゆがむ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・今までにない強い頭痛、吐き気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・管を入れた場所からの出血、腫れ、どんどん強くなる痛み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・手足が冷たい、しびれる、色が悪い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・腰や背中の痛み(足の付け根から治療した場合)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パス02　脳血管造影・前日入院・上肢アクセス　患者さん用クリニカルパス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検査：脳血管造影(腕の血管から)を受ける方へ　※病状・検査結果により予定は変更になることがあります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6" name="Image 0" descr="/tmp/claude-0/-home-user-SD-/6071e542-76be-5aaa-a13b-481d427eef5d/scratchpad/pathway-pptx/icons/ad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027" y="996696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176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入院(前日)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06547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230069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0" name="Image 1" descr="/tmp/claude-0/-home-user-SD-/6071e542-76be-5aaa-a13b-481d427eef5d/scratchpad/pathway-pptx/icons/pr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6776" y="9966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220925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検査・準備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02122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185818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4" name="Image 2" descr="/tmp/claude-0/-home-user-SD-/6071e542-76be-5aaa-a13b-481d427eef5d/scratchpad/pathway-pptx/icons/tr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2525" y="996696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76674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(血管造影)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597697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141568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8" name="Image 3" descr="/tmp/claude-0/-home-user-SD-/6071e542-76be-5aaa-a13b-481d427eef5d/scratchpad/pathway-pptx/icons/sc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8274" y="99669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132424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安静・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経過観察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7932725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7317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2" name="Image 4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4023" y="996696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088173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歩行開始</a:t>
            </a:r>
            <a:endParaRPr lang="en-US" sz="800" dirty="0"/>
          </a:p>
        </p:txBody>
      </p:sp>
      <p:sp>
        <p:nvSpPr>
          <p:cNvPr id="24" name="Text 17"/>
          <p:cNvSpPr/>
          <p:nvPr/>
        </p:nvSpPr>
        <p:spPr>
          <a:xfrm>
            <a:off x="988847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10053066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6" name="Image 5" descr="/tmp/claude-0/-home-user-SD-/6071e542-76be-5aaa-a13b-481d427eef5d/scratchpad/pathway-pptx/icons/h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9773" y="996696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043922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退院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819656"/>
          <a:ext cx="117344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34440"/>
                <a:gridCol w="1681429"/>
                <a:gridCol w="1681429"/>
                <a:gridCol w="1681429"/>
                <a:gridCol w="1681429"/>
                <a:gridCol w="1681429"/>
                <a:gridCol w="1681429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日・時期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入院日(前日)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検査当日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検査後〜数時間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翌朝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8585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今日の目標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検査の準備が整う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体の状態を確認する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安全に検査を受ける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出血がなく手の血の巡りが保たれる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いつもどおり動ける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家での過ごし方が分かる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8585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検査・治療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血液検査(腎臓の働きを確認)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血液検査、心電図、腕の脈の確認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点滴を始めます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血圧・脈・手足の動きを繰り返し確認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傷の確認、手首の脈の確認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検査結果の説明日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85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お休みする薬をお伝えします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いつもの薬の確認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決められた薬のみ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点滴を続けます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お休みしていた薬の再開日をお伝えします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再開する薬の確認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667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夜から食事を止めます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絶食(後で水分から)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お食事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お食事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85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安静・歩行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制限なし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制限なし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管を入れた腕を安静に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腕の使い方(重い物は持たない)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制限なし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667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排泄・清潔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検査前にお手洗いへ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許可があればお手洗いへ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シャワー(許可後)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通常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説明・練習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検査中の協力の説明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症状申告の方法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異常時のナースコール方法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腕の使い方の説明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検査結果の説明日、次の外来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pic>
        <p:nvPicPr>
          <p:cNvPr id="29" name="Image 6" descr="/tmp/claude-0/-home-user-SD-/6071e542-76be-5aaa-a13b-481d427eef5d/scratchpad/pathway-pptx/icons/reas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" y="2568954"/>
            <a:ext cx="274320" cy="274320"/>
          </a:xfrm>
          <a:prstGeom prst="rect">
            <a:avLst/>
          </a:prstGeom>
        </p:spPr>
      </p:pic>
      <p:pic>
        <p:nvPicPr>
          <p:cNvPr id="30" name="Image 7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" y="3427470"/>
            <a:ext cx="274320" cy="274320"/>
          </a:xfrm>
          <a:prstGeom prst="rect">
            <a:avLst/>
          </a:prstGeom>
        </p:spPr>
      </p:pic>
      <p:pic>
        <p:nvPicPr>
          <p:cNvPr id="31" name="Image 8" descr="/tmp/claude-0/-home-user-SD-/6071e542-76be-5aaa-a13b-481d427eef5d/scratchpad/pathway-pptx/icons/dru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" y="4285985"/>
            <a:ext cx="274320" cy="274320"/>
          </a:xfrm>
          <a:prstGeom prst="rect">
            <a:avLst/>
          </a:prstGeom>
        </p:spPr>
      </p:pic>
      <p:pic>
        <p:nvPicPr>
          <p:cNvPr id="32" name="Image 9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" y="5048917"/>
            <a:ext cx="274320" cy="274320"/>
          </a:xfrm>
          <a:prstGeom prst="rect">
            <a:avLst/>
          </a:prstGeom>
        </p:spPr>
      </p:pic>
      <p:pic>
        <p:nvPicPr>
          <p:cNvPr id="33" name="Image 10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176" y="5811850"/>
            <a:ext cx="274320" cy="274320"/>
          </a:xfrm>
          <a:prstGeom prst="rect">
            <a:avLst/>
          </a:prstGeom>
        </p:spPr>
      </p:pic>
      <p:pic>
        <p:nvPicPr>
          <p:cNvPr id="34" name="Image 11" descr="/tmp/claude-0/-home-user-SD-/6071e542-76be-5aaa-a13b-481d427eef5d/scratchpad/pathway-pptx/icons/clea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176" y="6574782"/>
            <a:ext cx="274320" cy="274320"/>
          </a:xfrm>
          <a:prstGeom prst="rect">
            <a:avLst/>
          </a:prstGeom>
        </p:spPr>
      </p:pic>
      <p:pic>
        <p:nvPicPr>
          <p:cNvPr id="35" name="Image 12" descr="/tmp/claude-0/-home-user-SD-/6071e542-76be-5aaa-a13b-481d427eef5d/scratchpad/pathway-pptx/icons/not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" y="7242130"/>
            <a:ext cx="274320" cy="274320"/>
          </a:xfrm>
          <a:prstGeom prst="rect">
            <a:avLst/>
          </a:prstGeom>
        </p:spPr>
      </p:pic>
      <p:sp>
        <p:nvSpPr>
          <p:cNvPr id="36" name="Shape 20"/>
          <p:cNvSpPr/>
          <p:nvPr/>
        </p:nvSpPr>
        <p:spPr>
          <a:xfrm>
            <a:off x="228600" y="7822692"/>
            <a:ext cx="11734495" cy="1211580"/>
          </a:xfrm>
          <a:prstGeom prst="roundRect">
            <a:avLst>
              <a:gd name="adj" fmla="val 4528"/>
            </a:avLst>
          </a:prstGeom>
          <a:solidFill>
            <a:srgbClr val="FCE8E8"/>
          </a:solidFill>
          <a:ln w="15875">
            <a:solidFill>
              <a:srgbClr val="C53030"/>
            </a:solidFill>
            <a:prstDash val="solid"/>
          </a:ln>
        </p:spPr>
      </p:sp>
      <p:pic>
        <p:nvPicPr>
          <p:cNvPr id="37" name="Image 13" descr="/tmp/claude-0/-home-user-SD-/6071e542-76be-5aaa-a13b-481d427eef5d/scratchpad/pathway-pptx/icons/war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4048" y="7950708"/>
            <a:ext cx="347472" cy="347472"/>
          </a:xfrm>
          <a:prstGeom prst="rect">
            <a:avLst/>
          </a:prstGeom>
        </p:spPr>
      </p:pic>
      <p:sp>
        <p:nvSpPr>
          <p:cNvPr id="38" name="Text 21"/>
          <p:cNvSpPr/>
          <p:nvPr/>
        </p:nvSpPr>
        <p:spPr>
          <a:xfrm>
            <a:off x="841248" y="7877556"/>
            <a:ext cx="11048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この症状があれば、すぐにナースコール・受診してください</a:t>
            </a:r>
            <a:endParaRPr lang="en-US" sz="1100" dirty="0"/>
          </a:p>
        </p:txBody>
      </p:sp>
      <p:sp>
        <p:nvSpPr>
          <p:cNvPr id="39" name="Text 22"/>
          <p:cNvSpPr/>
          <p:nvPr/>
        </p:nvSpPr>
        <p:spPr>
          <a:xfrm>
            <a:off x="841248" y="8151876"/>
            <a:ext cx="1104869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・管を入れた手のしびれ、冷たさ、色が悪い(白い・紫っぽい)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・管を入れた腕の、どんどん強くなる痛み、腕がパンパンに張る感じ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・管を入れた場所からの出血、ふくらみ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・手や足が急に動かしにくい、力が入らない、言葉が出にくい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・強い頭痛、吐き気、体のかゆみ、じんましん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パス03　脳血管造影・前日入院・鼠径アクセス　患者さん用クリニカルパス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検査：脳血管造影(足の付け根の血管から)を受ける方へ　※病状・検査結果により予定は変更になることがあります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6" name="Image 0" descr="/tmp/claude-0/-home-user-SD-/6071e542-76be-5aaa-a13b-481d427eef5d/scratchpad/pathway-pptx/icons/ad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027" y="996696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176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入院(前日)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06547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230069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0" name="Image 1" descr="/tmp/claude-0/-home-user-SD-/6071e542-76be-5aaa-a13b-481d427eef5d/scratchpad/pathway-pptx/icons/pr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6776" y="9966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220925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検査・準備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02122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185818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4" name="Image 2" descr="/tmp/claude-0/-home-user-SD-/6071e542-76be-5aaa-a13b-481d427eef5d/scratchpad/pathway-pptx/icons/tr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2525" y="996696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76674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(血管造影)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597697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141568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8" name="Image 3" descr="/tmp/claude-0/-home-user-SD-/6071e542-76be-5aaa-a13b-481d427eef5d/scratchpad/pathway-pptx/icons/sc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8274" y="99669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132424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安静・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経過観察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7932725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7317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2" name="Image 4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4023" y="996696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088173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歩行開始</a:t>
            </a:r>
            <a:endParaRPr lang="en-US" sz="800" dirty="0"/>
          </a:p>
        </p:txBody>
      </p:sp>
      <p:sp>
        <p:nvSpPr>
          <p:cNvPr id="24" name="Text 17"/>
          <p:cNvSpPr/>
          <p:nvPr/>
        </p:nvSpPr>
        <p:spPr>
          <a:xfrm>
            <a:off x="988847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10053066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6" name="Image 5" descr="/tmp/claude-0/-home-user-SD-/6071e542-76be-5aaa-a13b-481d427eef5d/scratchpad/pathway-pptx/icons/h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9773" y="996696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043922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退院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819656"/>
          <a:ext cx="117344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34440"/>
                <a:gridCol w="1681429"/>
                <a:gridCol w="1681429"/>
                <a:gridCol w="1681429"/>
                <a:gridCol w="1681429"/>
                <a:gridCol w="1681429"/>
                <a:gridCol w="1681429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日・時期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入院日(前日)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検査当日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検査後〜数時間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安静解除後〜翌朝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806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今日の目標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検査の準備が整う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検査後の過ごし方が分かる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安全に検査を受ける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出血がなく脚の血の巡りが保たれる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起き上がって歩ける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家での過ごし方が分かる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806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検査・治療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血液検査(腎臓の働きを確認)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血液検査、心電図、足の脈の確認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点滴を始めます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血圧・脈・手足の動き・足の甲の脈を確認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傷の確認、腰の痛みの最終確認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検査結果の説明日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6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お休みする薬をお伝えします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いつもの薬の確認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決められた薬のみ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点滴を続けます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お休みしていた薬の再開日をお伝えします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再開する薬の確認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6267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夜から食事を止めます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絶食(後で水分から)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お食事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お食事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6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安静・歩行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検査後の床上安静の練習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検査前にお手洗いを済ませます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ベッドの上で安静。脚はまっすぐ伸ばしたまま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起き上がる→立つ→歩く、の順に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重い物・激しい運動は控えます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6267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排泄・清潔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入浴、床上排泄の練習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検査前にお手洗いを済ませます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ベッドの上で行います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お手洗いへ歩けます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入浴は指示に従う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6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説明・練習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安静・床上排泄の事前説明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症状申告の方法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腰や背中の痛みはすぐ知らせる、との説明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起き上がるときは押さえて、との説明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検査結果の説明日、次の外来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pic>
        <p:nvPicPr>
          <p:cNvPr id="29" name="Image 6" descr="/tmp/claude-0/-home-user-SD-/6071e542-76be-5aaa-a13b-481d427eef5d/scratchpad/pathway-pptx/icons/reas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" y="2542862"/>
            <a:ext cx="274320" cy="274320"/>
          </a:xfrm>
          <a:prstGeom prst="rect">
            <a:avLst/>
          </a:prstGeom>
        </p:spPr>
      </p:pic>
      <p:pic>
        <p:nvPicPr>
          <p:cNvPr id="30" name="Image 7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" y="3349195"/>
            <a:ext cx="274320" cy="274320"/>
          </a:xfrm>
          <a:prstGeom prst="rect">
            <a:avLst/>
          </a:prstGeom>
        </p:spPr>
      </p:pic>
      <p:pic>
        <p:nvPicPr>
          <p:cNvPr id="31" name="Image 8" descr="/tmp/claude-0/-home-user-SD-/6071e542-76be-5aaa-a13b-481d427eef5d/scratchpad/pathway-pptx/icons/dru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" y="4155527"/>
            <a:ext cx="274320" cy="274320"/>
          </a:xfrm>
          <a:prstGeom prst="rect">
            <a:avLst/>
          </a:prstGeom>
        </p:spPr>
      </p:pic>
      <p:pic>
        <p:nvPicPr>
          <p:cNvPr id="32" name="Image 9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" y="4872086"/>
            <a:ext cx="274320" cy="274320"/>
          </a:xfrm>
          <a:prstGeom prst="rect">
            <a:avLst/>
          </a:prstGeom>
        </p:spPr>
      </p:pic>
      <p:pic>
        <p:nvPicPr>
          <p:cNvPr id="33" name="Image 10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176" y="5588644"/>
            <a:ext cx="274320" cy="274320"/>
          </a:xfrm>
          <a:prstGeom prst="rect">
            <a:avLst/>
          </a:prstGeom>
        </p:spPr>
      </p:pic>
      <p:pic>
        <p:nvPicPr>
          <p:cNvPr id="34" name="Image 11" descr="/tmp/claude-0/-home-user-SD-/6071e542-76be-5aaa-a13b-481d427eef5d/scratchpad/pathway-pptx/icons/clea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176" y="6305203"/>
            <a:ext cx="274320" cy="274320"/>
          </a:xfrm>
          <a:prstGeom prst="rect">
            <a:avLst/>
          </a:prstGeom>
        </p:spPr>
      </p:pic>
      <p:pic>
        <p:nvPicPr>
          <p:cNvPr id="35" name="Image 12" descr="/tmp/claude-0/-home-user-SD-/6071e542-76be-5aaa-a13b-481d427eef5d/scratchpad/pathway-pptx/icons/not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" y="7021762"/>
            <a:ext cx="274320" cy="274320"/>
          </a:xfrm>
          <a:prstGeom prst="rect">
            <a:avLst/>
          </a:prstGeom>
        </p:spPr>
      </p:pic>
      <p:sp>
        <p:nvSpPr>
          <p:cNvPr id="36" name="Shape 20"/>
          <p:cNvSpPr/>
          <p:nvPr/>
        </p:nvSpPr>
        <p:spPr>
          <a:xfrm>
            <a:off x="228600" y="7671816"/>
            <a:ext cx="11734495" cy="1362456"/>
          </a:xfrm>
          <a:prstGeom prst="roundRect">
            <a:avLst>
              <a:gd name="adj" fmla="val 4027"/>
            </a:avLst>
          </a:prstGeom>
          <a:solidFill>
            <a:srgbClr val="FCE8E8"/>
          </a:solidFill>
          <a:ln w="15875">
            <a:solidFill>
              <a:srgbClr val="C53030"/>
            </a:solidFill>
            <a:prstDash val="solid"/>
          </a:ln>
        </p:spPr>
      </p:sp>
      <p:pic>
        <p:nvPicPr>
          <p:cNvPr id="37" name="Image 13" descr="/tmp/claude-0/-home-user-SD-/6071e542-76be-5aaa-a13b-481d427eef5d/scratchpad/pathway-pptx/icons/war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4048" y="7799832"/>
            <a:ext cx="347472" cy="347472"/>
          </a:xfrm>
          <a:prstGeom prst="rect">
            <a:avLst/>
          </a:prstGeom>
        </p:spPr>
      </p:pic>
      <p:sp>
        <p:nvSpPr>
          <p:cNvPr id="38" name="Text 21"/>
          <p:cNvSpPr/>
          <p:nvPr/>
        </p:nvSpPr>
        <p:spPr>
          <a:xfrm>
            <a:off x="841248" y="7726680"/>
            <a:ext cx="11048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この症状があれば、すぐにナースコール・受診してください</a:t>
            </a:r>
            <a:endParaRPr lang="en-US" sz="1100" dirty="0"/>
          </a:p>
        </p:txBody>
      </p:sp>
      <p:sp>
        <p:nvSpPr>
          <p:cNvPr id="39" name="Text 22"/>
          <p:cNvSpPr/>
          <p:nvPr/>
        </p:nvSpPr>
        <p:spPr>
          <a:xfrm>
            <a:off x="841248" y="8001000"/>
            <a:ext cx="1104869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・腰や背中の痛み(新しく出た、だんだん強くなる)← とても大切です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・お腹の張り、お腹の痛み、冷や汗、ふらつき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・管を入れた脚のしびれ、冷たさ、色が悪い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・管を入れた場所からの出血、ふくらみ、強い痛み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・手や足が急に動かしにくい、言葉が出にくい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・尿が出ない、尿意はあるのに出せない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パス04　脳血管造影・当日入院・上肢アクセス　患者さん用クリニカルパス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検査：脳血管造影(腕の血管から・入院当日に検査)を受ける方へ　※病状・検査結果により予定は変更になることがあります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6" name="Image 0" descr="/tmp/claude-0/-home-user-SD-/6071e542-76be-5aaa-a13b-481d427eef5d/scratchpad/pathway-pptx/icons/pr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6602" y="996696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176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入院前外来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(検査の準備)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45662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621219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0" name="Image 1" descr="/tmp/claude-0/-home-user-SD-/6071e542-76be-5aaa-a13b-481d427eef5d/scratchpad/pathway-pptx/icons/adm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01" y="9966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12075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入院(当日)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80352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968118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4" name="Image 2" descr="/tmp/claude-0/-home-user-SD-/6071e542-76be-5aaa-a13b-481d427eef5d/scratchpad/pathway-pptx/icons/tr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400" y="996696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8974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(血管造影)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7150425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7315017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8" name="Image 3" descr="/tmp/claude-0/-home-user-SD-/6071e542-76be-5aaa-a13b-481d427eef5d/scratchpad/pathway-pptx/icons/sc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7299" y="99669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305873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安静・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経過観察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949732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9661916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2" name="Image 4" descr="/tmp/claude-0/-home-user-SD-/6071e542-76be-5aaa-a13b-481d427eef5d/scratchpad/pathway-pptx/icons/ho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4198" y="996696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652772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退院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(同日〜翌日)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819656"/>
          <a:ext cx="117344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34440"/>
                <a:gridCol w="2017715"/>
                <a:gridCol w="2017715"/>
                <a:gridCol w="2017715"/>
                <a:gridCol w="2017715"/>
                <a:gridCol w="20177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日・時期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入院前の外来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入院日(検査前)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検査中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検査後〜数時間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667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今日の目標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検査の準備をすべて終える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安全に検査を始められる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検査を無事に終える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出血がなく手の血の巡りが保たれる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家での過ごし方が分かる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8585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検査・治療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血液検査、心電図、腕の脈の確認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お薬・食事の確認、腕の脈の確認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手首(または肘)から管を入れ撮影します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血圧・脈・手の色・冷たさ・しびれを確認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傷の確認、手首の脈の最終確認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85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お休みする薬とその日をお伝えします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決められた薬のみ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点滴を続けます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お休みしていた薬の再開日をお伝えします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667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食事を止める時刻をお伝えします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絶食(後で水分から)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お食事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85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安静・歩行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制限なし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ベッドで安静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管を入れた腕を安静に。歩行は医師の許可後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制限なし。腕の使い方の注意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667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排泄・清潔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検査前にお手洗いへ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許可があればお手洗いへ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通常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85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説明・練習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検査の説明、来院時刻・絶食時刻の確認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検査中は息を止めること、動かないこと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痛みや気分の悪さはその場で伝える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手のしびれ・冷たさはすぐ知らせる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ご自宅での注意点・連絡先をお渡しします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pic>
        <p:nvPicPr>
          <p:cNvPr id="25" name="Image 5" descr="/tmp/claude-0/-home-user-SD-/6071e542-76be-5aaa-a13b-481d427eef5d/scratchpad/pathway-pptx/icons/reas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5176" y="2473370"/>
            <a:ext cx="274320" cy="274320"/>
          </a:xfrm>
          <a:prstGeom prst="rect">
            <a:avLst/>
          </a:prstGeom>
        </p:spPr>
      </p:pic>
      <p:pic>
        <p:nvPicPr>
          <p:cNvPr id="26" name="Image 6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" y="3236302"/>
            <a:ext cx="274320" cy="274320"/>
          </a:xfrm>
          <a:prstGeom prst="rect">
            <a:avLst/>
          </a:prstGeom>
        </p:spPr>
      </p:pic>
      <p:pic>
        <p:nvPicPr>
          <p:cNvPr id="27" name="Image 7" descr="/tmp/claude-0/-home-user-SD-/6071e542-76be-5aaa-a13b-481d427eef5d/scratchpad/pathway-pptx/icons/dru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" y="4094818"/>
            <a:ext cx="274320" cy="274320"/>
          </a:xfrm>
          <a:prstGeom prst="rect">
            <a:avLst/>
          </a:prstGeom>
        </p:spPr>
      </p:pic>
      <p:pic>
        <p:nvPicPr>
          <p:cNvPr id="28" name="Image 8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" y="4857750"/>
            <a:ext cx="274320" cy="274320"/>
          </a:xfrm>
          <a:prstGeom prst="rect">
            <a:avLst/>
          </a:prstGeom>
        </p:spPr>
      </p:pic>
      <p:pic>
        <p:nvPicPr>
          <p:cNvPr id="29" name="Image 9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" y="5620682"/>
            <a:ext cx="274320" cy="274320"/>
          </a:xfrm>
          <a:prstGeom prst="rect">
            <a:avLst/>
          </a:prstGeom>
        </p:spPr>
      </p:pic>
      <p:pic>
        <p:nvPicPr>
          <p:cNvPr id="30" name="Image 10" descr="/tmp/claude-0/-home-user-SD-/6071e542-76be-5aaa-a13b-481d427eef5d/scratchpad/pathway-pptx/icons/clea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176" y="6383614"/>
            <a:ext cx="274320" cy="274320"/>
          </a:xfrm>
          <a:prstGeom prst="rect">
            <a:avLst/>
          </a:prstGeom>
        </p:spPr>
      </p:pic>
      <p:pic>
        <p:nvPicPr>
          <p:cNvPr id="31" name="Image 11" descr="/tmp/claude-0/-home-user-SD-/6071e542-76be-5aaa-a13b-481d427eef5d/scratchpad/pathway-pptx/icons/not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176" y="7146546"/>
            <a:ext cx="274320" cy="274320"/>
          </a:xfrm>
          <a:prstGeom prst="rect">
            <a:avLst/>
          </a:prstGeom>
        </p:spPr>
      </p:pic>
      <p:sp>
        <p:nvSpPr>
          <p:cNvPr id="32" name="Shape 17"/>
          <p:cNvSpPr/>
          <p:nvPr/>
        </p:nvSpPr>
        <p:spPr>
          <a:xfrm>
            <a:off x="228600" y="7822692"/>
            <a:ext cx="11734495" cy="1211580"/>
          </a:xfrm>
          <a:prstGeom prst="roundRect">
            <a:avLst>
              <a:gd name="adj" fmla="val 4528"/>
            </a:avLst>
          </a:prstGeom>
          <a:solidFill>
            <a:srgbClr val="FCE8E8"/>
          </a:solidFill>
          <a:ln w="15875">
            <a:solidFill>
              <a:srgbClr val="C53030"/>
            </a:solidFill>
            <a:prstDash val="solid"/>
          </a:ln>
        </p:spPr>
      </p:sp>
      <p:pic>
        <p:nvPicPr>
          <p:cNvPr id="33" name="Image 12" descr="/tmp/claude-0/-home-user-SD-/6071e542-76be-5aaa-a13b-481d427eef5d/scratchpad/pathway-pptx/icons/war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048" y="7950708"/>
            <a:ext cx="347472" cy="347472"/>
          </a:xfrm>
          <a:prstGeom prst="rect">
            <a:avLst/>
          </a:prstGeom>
        </p:spPr>
      </p:pic>
      <p:sp>
        <p:nvSpPr>
          <p:cNvPr id="34" name="Text 18"/>
          <p:cNvSpPr/>
          <p:nvPr/>
        </p:nvSpPr>
        <p:spPr>
          <a:xfrm>
            <a:off x="841248" y="7877556"/>
            <a:ext cx="11048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この症状があれば、すぐにナースコール・受診してください</a:t>
            </a:r>
            <a:endParaRPr lang="en-US" sz="1100" dirty="0"/>
          </a:p>
        </p:txBody>
      </p:sp>
      <p:sp>
        <p:nvSpPr>
          <p:cNvPr id="35" name="Text 19"/>
          <p:cNvSpPr/>
          <p:nvPr/>
        </p:nvSpPr>
        <p:spPr>
          <a:xfrm>
            <a:off x="841248" y="8151876"/>
            <a:ext cx="1104869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・管を入れた手のしびれ、冷たさ、色が悪い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・管を入れた腕の、どんどん強くなる痛み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・管を入れた場所からの出血、ふくらみ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・手や足が急に動かしにくい、言葉が出にくい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・体のかゆみ、じんましん(退院後、数時間〜数日たってから出ることもあります)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パス05　脳血管造影・当日入院・鼠径アクセス　患者さん用クリニカルパス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検査：脳血管造影(足の付け根の血管から・入院当日に検査)を受ける方へ　※病状・検査結果により予定は変更になることがあります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6" name="Image 0" descr="/tmp/claude-0/-home-user-SD-/6071e542-76be-5aaa-a13b-481d427eef5d/scratchpad/pathway-pptx/icons/pr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027" y="996696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176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入院前外来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(検査の準備)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06547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230069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0" name="Image 1" descr="/tmp/claude-0/-home-user-SD-/6071e542-76be-5aaa-a13b-481d427eef5d/scratchpad/pathway-pptx/icons/adm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6776" y="9966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220925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入院(当日)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02122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185818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4" name="Image 2" descr="/tmp/claude-0/-home-user-SD-/6071e542-76be-5aaa-a13b-481d427eef5d/scratchpad/pathway-pptx/icons/tr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2525" y="996696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76674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(血管造影)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597697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141568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8" name="Image 3" descr="/tmp/claude-0/-home-user-SD-/6071e542-76be-5aaa-a13b-481d427eef5d/scratchpad/pathway-pptx/icons/sc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8274" y="99669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132424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安静・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経過観察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7932725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7317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2" name="Image 4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4023" y="996696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088173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歩行開始</a:t>
            </a:r>
            <a:endParaRPr lang="en-US" sz="800" dirty="0"/>
          </a:p>
        </p:txBody>
      </p:sp>
      <p:sp>
        <p:nvSpPr>
          <p:cNvPr id="24" name="Text 17"/>
          <p:cNvSpPr/>
          <p:nvPr/>
        </p:nvSpPr>
        <p:spPr>
          <a:xfrm>
            <a:off x="988847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10053066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6" name="Image 5" descr="/tmp/claude-0/-home-user-SD-/6071e542-76be-5aaa-a13b-481d427eef5d/scratchpad/pathway-pptx/icons/h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9773" y="996696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043922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退院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(同日〜翌日)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819656"/>
          <a:ext cx="117344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34440"/>
                <a:gridCol w="1681429"/>
                <a:gridCol w="1681429"/>
                <a:gridCol w="1681429"/>
                <a:gridCol w="1681429"/>
                <a:gridCol w="1681429"/>
                <a:gridCol w="1681429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日・時期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入院前の外来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入院日(検査前)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検査中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検査後〜数時間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安静解除後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755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今日の目標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検査の準備をすべて終える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安全に検査を始められる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検査を無事に終える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出血がなく脚の血の巡りが保たれる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起き上がって歩ける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家での過ごし方が分かる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755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検査・治療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血液検査、心電図、足の脈の確認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お薬・食事の確認、足の脈の確認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足の付け根から管を入れ撮影します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血圧・脈・足の甲の脈を確認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起き上がる→立つ→歩くの順に。傷も確認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傷の確認、足の脈・腰の痛みの最終確認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55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お休みする薬とその日をお伝えします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決められた薬のみ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点滴を続けます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お休みしていた薬の再開日をお伝えします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755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食事を止める時刻をお伝えします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絶食(後で水分から)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お食事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お食事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55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安静・歩行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検査前にお手洗いを済ませます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ベッドで安静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ベッドの上で安静。脚はまっすぐ伸ばしたまま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歩けます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重い物・激しい運動は控えます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755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排泄・清潔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検査後の床上安静・排泄の事前説明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ベッドの上で行います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お手洗いへ歩けます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入浴は指示に従う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55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説明・練習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検査の説明、来院・絶食時刻の確認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息を止めること、動かないこと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痛みや気分の悪さはその場で伝える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腰や背中の痛みはすぐ知らせる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起き上がるときは押さえて、との説明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ご自宅での注意点・連絡先をお渡しします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pic>
        <p:nvPicPr>
          <p:cNvPr id="29" name="Image 6" descr="/tmp/claude-0/-home-user-SD-/6071e542-76be-5aaa-a13b-481d427eef5d/scratchpad/pathway-pptx/icons/reas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" y="2517213"/>
            <a:ext cx="274320" cy="274320"/>
          </a:xfrm>
          <a:prstGeom prst="rect">
            <a:avLst/>
          </a:prstGeom>
        </p:spPr>
      </p:pic>
      <p:pic>
        <p:nvPicPr>
          <p:cNvPr id="30" name="Image 7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" y="3272246"/>
            <a:ext cx="274320" cy="274320"/>
          </a:xfrm>
          <a:prstGeom prst="rect">
            <a:avLst/>
          </a:prstGeom>
        </p:spPr>
      </p:pic>
      <p:pic>
        <p:nvPicPr>
          <p:cNvPr id="31" name="Image 8" descr="/tmp/claude-0/-home-user-SD-/6071e542-76be-5aaa-a13b-481d427eef5d/scratchpad/pathway-pptx/icons/dru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" y="4027279"/>
            <a:ext cx="274320" cy="274320"/>
          </a:xfrm>
          <a:prstGeom prst="rect">
            <a:avLst/>
          </a:prstGeom>
        </p:spPr>
      </p:pic>
      <p:pic>
        <p:nvPicPr>
          <p:cNvPr id="32" name="Image 9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" y="4782312"/>
            <a:ext cx="274320" cy="274320"/>
          </a:xfrm>
          <a:prstGeom prst="rect">
            <a:avLst/>
          </a:prstGeom>
        </p:spPr>
      </p:pic>
      <p:pic>
        <p:nvPicPr>
          <p:cNvPr id="33" name="Image 10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176" y="5537345"/>
            <a:ext cx="274320" cy="274320"/>
          </a:xfrm>
          <a:prstGeom prst="rect">
            <a:avLst/>
          </a:prstGeom>
        </p:spPr>
      </p:pic>
      <p:pic>
        <p:nvPicPr>
          <p:cNvPr id="34" name="Image 11" descr="/tmp/claude-0/-home-user-SD-/6071e542-76be-5aaa-a13b-481d427eef5d/scratchpad/pathway-pptx/icons/clea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176" y="6292378"/>
            <a:ext cx="274320" cy="274320"/>
          </a:xfrm>
          <a:prstGeom prst="rect">
            <a:avLst/>
          </a:prstGeom>
        </p:spPr>
      </p:pic>
      <p:pic>
        <p:nvPicPr>
          <p:cNvPr id="35" name="Image 12" descr="/tmp/claude-0/-home-user-SD-/6071e542-76be-5aaa-a13b-481d427eef5d/scratchpad/pathway-pptx/icons/not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" y="7047411"/>
            <a:ext cx="274320" cy="274320"/>
          </a:xfrm>
          <a:prstGeom prst="rect">
            <a:avLst/>
          </a:prstGeom>
        </p:spPr>
      </p:pic>
      <p:sp>
        <p:nvSpPr>
          <p:cNvPr id="36" name="Shape 20"/>
          <p:cNvSpPr/>
          <p:nvPr/>
        </p:nvSpPr>
        <p:spPr>
          <a:xfrm>
            <a:off x="228600" y="7671816"/>
            <a:ext cx="11734495" cy="1362456"/>
          </a:xfrm>
          <a:prstGeom prst="roundRect">
            <a:avLst>
              <a:gd name="adj" fmla="val 4027"/>
            </a:avLst>
          </a:prstGeom>
          <a:solidFill>
            <a:srgbClr val="FCE8E8"/>
          </a:solidFill>
          <a:ln w="15875">
            <a:solidFill>
              <a:srgbClr val="C53030"/>
            </a:solidFill>
            <a:prstDash val="solid"/>
          </a:ln>
        </p:spPr>
      </p:sp>
      <p:pic>
        <p:nvPicPr>
          <p:cNvPr id="37" name="Image 13" descr="/tmp/claude-0/-home-user-SD-/6071e542-76be-5aaa-a13b-481d427eef5d/scratchpad/pathway-pptx/icons/war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4048" y="7799832"/>
            <a:ext cx="347472" cy="347472"/>
          </a:xfrm>
          <a:prstGeom prst="rect">
            <a:avLst/>
          </a:prstGeom>
        </p:spPr>
      </p:pic>
      <p:sp>
        <p:nvSpPr>
          <p:cNvPr id="38" name="Text 21"/>
          <p:cNvSpPr/>
          <p:nvPr/>
        </p:nvSpPr>
        <p:spPr>
          <a:xfrm>
            <a:off x="841248" y="7726680"/>
            <a:ext cx="11048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この症状があれば、すぐにナースコール・受診してください</a:t>
            </a:r>
            <a:endParaRPr lang="en-US" sz="1100" dirty="0"/>
          </a:p>
        </p:txBody>
      </p:sp>
      <p:sp>
        <p:nvSpPr>
          <p:cNvPr id="39" name="Text 22"/>
          <p:cNvSpPr/>
          <p:nvPr/>
        </p:nvSpPr>
        <p:spPr>
          <a:xfrm>
            <a:off x="841248" y="8001000"/>
            <a:ext cx="1104869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・腰や背中の痛み(新しく出た、だんだん強くなる)← とても大切です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・お腹の張り、冷や汗、ふらつき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・管を入れた脚のしびれ、冷たさ、色が悪い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・管を入れた場所からの出血、ふくらみ、強い痛み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・手や足が急に動かしにくい、言葉が出にくい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・尿が出ない、尿意はあるのに出せない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パス06　未破裂脳動脈瘤・血管内治療（コイル塞栓術）　患者さん用クリニカルパス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治療：未破裂脳動脈瘤コイル塞栓術を受ける方へ　7日間パス　※病状・検査結果により予定は変更になることがあります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1584916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6" name="Image 0" descr="/tmp/claude-0/-home-user-SD-/6071e542-76be-5aaa-a13b-481d427eef5d/scratchpad/pathway-pptx/icons/ad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30" y="996696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176" y="1335024"/>
            <a:ext cx="1603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入院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78608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950676" y="932688"/>
            <a:ext cx="1584916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0" name="Image 1" descr="/tmp/claude-0/-home-user-SD-/6071e542-76be-5aaa-a13b-481d427eef5d/scratchpad/pathway-pptx/icons/pr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687" y="9966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41532" y="1335024"/>
            <a:ext cx="1603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検査・準備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3462441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627033" y="932688"/>
            <a:ext cx="1584916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4" name="Image 2" descr="/tmp/claude-0/-home-user-SD-/6071e542-76be-5aaa-a13b-481d427eef5d/scratchpad/pathway-pptx/icons/tr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4043" y="996696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17889" y="1335024"/>
            <a:ext cx="1603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治療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(コイル塞栓術)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513879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03389" y="932688"/>
            <a:ext cx="1584916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8" name="Image 3" descr="/tmp/claude-0/-home-user-SD-/6071e542-76be-5aaa-a13b-481d427eef5d/scratchpad/pathway-pptx/icons/sc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0400" y="99669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294245" y="1335024"/>
            <a:ext cx="1603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CT・経過観察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681515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979746" y="932688"/>
            <a:ext cx="1584916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2" name="Image 4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6756" y="996696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970602" y="1335024"/>
            <a:ext cx="1603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歩行開始・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リハビリ</a:t>
            </a:r>
            <a:endParaRPr lang="en-US" sz="800" dirty="0"/>
          </a:p>
        </p:txBody>
      </p:sp>
      <p:sp>
        <p:nvSpPr>
          <p:cNvPr id="24" name="Text 17"/>
          <p:cNvSpPr/>
          <p:nvPr/>
        </p:nvSpPr>
        <p:spPr>
          <a:xfrm>
            <a:off x="8491510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8656102" y="932688"/>
            <a:ext cx="1584916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6" name="Image 5" descr="/tmp/claude-0/-home-user-SD-/6071e542-76be-5aaa-a13b-481d427eef5d/scratchpad/pathway-pptx/icons/clea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3113" y="996696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646958" y="1335024"/>
            <a:ext cx="1603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シャワー・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生活再開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1016786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10332459" y="932688"/>
            <a:ext cx="1584916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30" name="Image 6" descr="/tmp/claude-0/-home-user-SD-/6071e542-76be-5aaa-a13b-481d427eef5d/scratchpad/pathway-pptx/icons/hom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69469" y="996696"/>
            <a:ext cx="310896" cy="31089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0323315" y="1335024"/>
            <a:ext cx="1603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退院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819656"/>
          <a:ext cx="117344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34440"/>
                <a:gridCol w="1441225"/>
                <a:gridCol w="1441225"/>
                <a:gridCol w="1441225"/>
                <a:gridCol w="1441225"/>
                <a:gridCol w="1441225"/>
                <a:gridCol w="1441225"/>
                <a:gridCol w="144122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日・時期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入院・治療前日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治療当日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治療後1日目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治療後2日目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治療後3日目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治療後4日目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治療後5日目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63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今日の目標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体の状態を確認します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安全に治療を受けます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CTで出血がないか確認します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起き上がる練習をします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普段の生活に近づけます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退院に向けて準備します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安心して退院できます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7765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検査・治療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採血・心電図・胸部X線を確認します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治療前に体温・血圧などを確認します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朝に採血をします。頭部CTを撮影します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必要に応じて検査があります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頭部MRI・MRAまたはCTで治療後の状態を確認します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朝に退院前採血をします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検査結果を確認し退院可否を最終判断します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65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普段のお薬を確認します。抗血小板薬は指示通り内服します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朝の薬は医師の指示がある薬だけ内服します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主治医の指示で内服を再開します。抗血小板薬は忘れずに内服します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内服を継続します。副作用・飲み忘れを確認します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退院後も続けるお薬を確認します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退院処方の準備をします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退院処方をお渡しします。薬は自己判断で中止しないでください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7765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主治医の指示の食事です。21時以降は食べられません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治療前後は禁食です。食事再開は医師の指示です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CT後、主治医の指示で昼食から再開します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医師の指示の食事です。水分摂取も確認します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退院後の食事・塩分について説明します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退院後も血圧管理を意識した食事を続けます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退院後も血圧管理を意識した食事を続けます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65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安静・歩行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制限はありません。院内では転倒に注意しましょう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治療後はベッド上安静です。穿刺した足は曲げずに過ごしましょう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頭部CT後、状態に合わせて病棟内歩行が可能になります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病院内は自由に歩けます。ふらつき時は呼び出してください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普段の動作に近づけていきます。無理はしません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退院後の生活を想定して動きます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退院できます。重い物を持つ・激しい運動は指示まで控えます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7765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排泄・清潔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制限はありません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治療後は尿の管が入っています。排便はベッド上で行います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歩行可能になったら尿の管を抜き、トイレに行けます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制限はありません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制限はありません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制限はありません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入浴は退院時の指示に従ってください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898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説明・練習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看護師が入院生活と治療の流れを説明します。同意書・必要書類を確認します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ご家族は治療中、院内でお持ちください。終了後、医師から説明があります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転倒予防・穿刺部の見方・薬の再開について説明します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脳卒中再発予防の生活指導を始めます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血圧管理・禁煙・節酒・服薬継続について説明します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退院後の生活・外来予約・症状出現時の受診を確認します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退院指導を行います。重い物・麻雀・音楽の出にくさ・穿刺部の出血や強い痛みはすぐ受診してください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pic>
        <p:nvPicPr>
          <p:cNvPr id="33" name="Image 7" descr="/tmp/claude-0/-home-user-SD-/6071e542-76be-5aaa-a13b-481d427eef5d/scratchpad/pathway-pptx/icons/reas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" y="2421366"/>
            <a:ext cx="274320" cy="274320"/>
          </a:xfrm>
          <a:prstGeom prst="rect">
            <a:avLst/>
          </a:prstGeom>
        </p:spPr>
      </p:pic>
      <p:pic>
        <p:nvPicPr>
          <p:cNvPr id="34" name="Image 8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" y="3091328"/>
            <a:ext cx="274320" cy="274320"/>
          </a:xfrm>
          <a:prstGeom prst="rect">
            <a:avLst/>
          </a:prstGeom>
        </p:spPr>
      </p:pic>
      <p:pic>
        <p:nvPicPr>
          <p:cNvPr id="35" name="Image 9" descr="/tmp/claude-0/-home-user-SD-/6071e542-76be-5aaa-a13b-481d427eef5d/scratchpad/pathway-pptx/icons/dru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" y="3867915"/>
            <a:ext cx="274320" cy="274320"/>
          </a:xfrm>
          <a:prstGeom prst="rect">
            <a:avLst/>
          </a:prstGeom>
        </p:spPr>
      </p:pic>
      <p:pic>
        <p:nvPicPr>
          <p:cNvPr id="36" name="Image 10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176" y="4644502"/>
            <a:ext cx="274320" cy="274320"/>
          </a:xfrm>
          <a:prstGeom prst="rect">
            <a:avLst/>
          </a:prstGeom>
        </p:spPr>
      </p:pic>
      <p:pic>
        <p:nvPicPr>
          <p:cNvPr id="37" name="Image 11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176" y="5421089"/>
            <a:ext cx="274320" cy="274320"/>
          </a:xfrm>
          <a:prstGeom prst="rect">
            <a:avLst/>
          </a:prstGeom>
        </p:spPr>
      </p:pic>
      <p:pic>
        <p:nvPicPr>
          <p:cNvPr id="38" name="Image 12" descr="/tmp/claude-0/-home-user-SD-/6071e542-76be-5aaa-a13b-481d427eef5d/scratchpad/pathway-pptx/icons/clea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" y="6197676"/>
            <a:ext cx="274320" cy="274320"/>
          </a:xfrm>
          <a:prstGeom prst="rect">
            <a:avLst/>
          </a:prstGeom>
        </p:spPr>
      </p:pic>
      <p:pic>
        <p:nvPicPr>
          <p:cNvPr id="39" name="Image 13" descr="/tmp/claude-0/-home-user-SD-/6071e542-76be-5aaa-a13b-481d427eef5d/scratchpad/pathway-pptx/icons/not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5176" y="7080887"/>
            <a:ext cx="274320" cy="274320"/>
          </a:xfrm>
          <a:prstGeom prst="rect">
            <a:avLst/>
          </a:prstGeom>
        </p:spPr>
      </p:pic>
      <p:sp>
        <p:nvSpPr>
          <p:cNvPr id="40" name="Shape 23"/>
          <p:cNvSpPr/>
          <p:nvPr/>
        </p:nvSpPr>
        <p:spPr>
          <a:xfrm>
            <a:off x="228600" y="7822692"/>
            <a:ext cx="11734495" cy="1211580"/>
          </a:xfrm>
          <a:prstGeom prst="roundRect">
            <a:avLst>
              <a:gd name="adj" fmla="val 4528"/>
            </a:avLst>
          </a:prstGeom>
          <a:solidFill>
            <a:srgbClr val="FCE8E8"/>
          </a:solidFill>
          <a:ln w="15875">
            <a:solidFill>
              <a:srgbClr val="C53030"/>
            </a:solidFill>
            <a:prstDash val="solid"/>
          </a:ln>
        </p:spPr>
      </p:sp>
      <p:pic>
        <p:nvPicPr>
          <p:cNvPr id="41" name="Image 14" descr="/tmp/claude-0/-home-user-SD-/6071e542-76be-5aaa-a13b-481d427eef5d/scratchpad/pathway-pptx/icons/war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4048" y="7950708"/>
            <a:ext cx="347472" cy="347472"/>
          </a:xfrm>
          <a:prstGeom prst="rect">
            <a:avLst/>
          </a:prstGeom>
        </p:spPr>
      </p:pic>
      <p:sp>
        <p:nvSpPr>
          <p:cNvPr id="42" name="Text 24"/>
          <p:cNvSpPr/>
          <p:nvPr/>
        </p:nvSpPr>
        <p:spPr>
          <a:xfrm>
            <a:off x="841248" y="7877556"/>
            <a:ext cx="11048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この症状があれば、すぐにナースコール・受診してください</a:t>
            </a:r>
            <a:endParaRPr lang="en-US" sz="1100" dirty="0"/>
          </a:p>
        </p:txBody>
      </p:sp>
      <p:sp>
        <p:nvSpPr>
          <p:cNvPr id="43" name="Text 25"/>
          <p:cNvSpPr/>
          <p:nvPr/>
        </p:nvSpPr>
        <p:spPr>
          <a:xfrm>
            <a:off x="841248" y="8151876"/>
            <a:ext cx="1104869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・急な手足の動かしにくさ、片側の手足のしびれ・力が入らない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・言葉が出にくい、ろれつが回らない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・突然の強い頭痛、吐き気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・穿刺した部位からの出血・腫れ・強い痛み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・意識がぼんやりする、呼びかけへの反応が悪い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パス07　未破裂脳動脈瘤・開頭クリッピング術　患者さん用クリニカルパス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治療：未破裂脳動脈瘤の開頭手術(クリッピング術)を受ける方へ　※病状・検査結果により予定は変更になることがあります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1584916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6" name="Image 0" descr="/tmp/claude-0/-home-user-SD-/6071e542-76be-5aaa-a13b-481d427eef5d/scratchpad/pathway-pptx/icons/ad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30" y="996696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176" y="1335024"/>
            <a:ext cx="1603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入院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78608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950676" y="932688"/>
            <a:ext cx="1584916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0" name="Image 1" descr="/tmp/claude-0/-home-user-SD-/6071e542-76be-5aaa-a13b-481d427eef5d/scratchpad/pathway-pptx/icons/pr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687" y="9966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41532" y="1335024"/>
            <a:ext cx="1603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検査・準備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3462441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627033" y="932688"/>
            <a:ext cx="1584916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4" name="Image 2" descr="/tmp/claude-0/-home-user-SD-/6071e542-76be-5aaa-a13b-481d427eef5d/scratchpad/pathway-pptx/icons/tr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4043" y="996696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17889" y="1335024"/>
            <a:ext cx="1603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手術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(クリッピング)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513879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03389" y="932688"/>
            <a:ext cx="1584916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8" name="Image 3" descr="/tmp/claude-0/-home-user-SD-/6071e542-76be-5aaa-a13b-481d427eef5d/scratchpad/pathway-pptx/icons/sc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0400" y="99669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294245" y="1335024"/>
            <a:ext cx="1603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安静・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経過観察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681515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979746" y="932688"/>
            <a:ext cx="1584916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2" name="Image 4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6756" y="996696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970602" y="1335024"/>
            <a:ext cx="1603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離床・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リハビリ</a:t>
            </a:r>
            <a:endParaRPr lang="en-US" sz="800" dirty="0"/>
          </a:p>
        </p:txBody>
      </p:sp>
      <p:sp>
        <p:nvSpPr>
          <p:cNvPr id="24" name="Text 17"/>
          <p:cNvSpPr/>
          <p:nvPr/>
        </p:nvSpPr>
        <p:spPr>
          <a:xfrm>
            <a:off x="8491510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8656102" y="932688"/>
            <a:ext cx="1584916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6" name="Image 5" descr="/tmp/claude-0/-home-user-SD-/6071e542-76be-5aaa-a13b-481d427eef5d/scratchpad/pathway-pptx/icons/clea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3113" y="996696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646958" y="1335024"/>
            <a:ext cx="1603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生活再開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1016786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10332459" y="932688"/>
            <a:ext cx="1584916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30" name="Image 6" descr="/tmp/claude-0/-home-user-SD-/6071e542-76be-5aaa-a13b-481d427eef5d/scratchpad/pathway-pptx/icons/hom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69469" y="996696"/>
            <a:ext cx="310896" cy="31089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0323315" y="1335024"/>
            <a:ext cx="1603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退院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819656"/>
          <a:ext cx="117344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34440"/>
                <a:gridCol w="1261072"/>
                <a:gridCol w="1261072"/>
                <a:gridCol w="1261072"/>
                <a:gridCol w="1261072"/>
                <a:gridCol w="1261072"/>
                <a:gridCol w="1261072"/>
                <a:gridCol w="1261072"/>
                <a:gridCol w="12610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日・時期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手術前日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手術当日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2〜3日目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4〜7日目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7162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今日の目標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手術の準備が整う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体の状態を確認する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手術後の過ごし方が分かる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安全に手術を始める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目が覚めて受け答えができる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起き上がれる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傷が落ち着く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家での過ごし方が分かる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7162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検査・治療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血液・心肺の検査、麻酔科診察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血液検査、レントゲン、心電図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点滴を始めます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血圧・瞳孔・手足の動きを繰り返し確認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傷と管の確認、必要に応じCT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傷の確認、血液検査(塩分バランス)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傷の最終確認、抜糸(医師判断)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62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お休みする薬をお伝えします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いつもの薬の確認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決められた薬のみ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点滴・痛み止め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お薬を再開します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退院のお薬をお渡しします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7162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夜から食事を止めます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洗髪・入浴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意識・飲み込みを確認してから開始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お食事(口が開きにくい場合はご相談)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お食事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62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安静・歩行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制限なし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制限なし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ベッド上安静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ベッドで安静。頭の位置は医師の指示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座る→立つ→歩く、の順に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病棟内を歩けます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7162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排泄・清潔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洗髪・入浴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尿の管が入ります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ベッドの上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お手洗いへ(付き添います)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洗髪は医師の許可後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シャワー(許可後)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874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説明・練習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手術の目的とリスク、選択肢の説明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手術後の過ごし方(安静・管・痛み)の説明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手術後の声のかけ方の説明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お名前を呼びます、手を握ってください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頭痛が強い・気持ち悪いときはすぐ知らせて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けいれんが起きたときの対応の説明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傷の手入れの仕方、受診が必要な症状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お風呂・お仕事・運転についての注意、今後の検査予定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pic>
        <p:nvPicPr>
          <p:cNvPr id="33" name="Image 7" descr="/tmp/claude-0/-home-user-SD-/6071e542-76be-5aaa-a13b-481d427eef5d/scratchpad/pathway-pptx/icons/reas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" y="2497845"/>
            <a:ext cx="274320" cy="274320"/>
          </a:xfrm>
          <a:prstGeom prst="rect">
            <a:avLst/>
          </a:prstGeom>
        </p:spPr>
      </p:pic>
      <p:pic>
        <p:nvPicPr>
          <p:cNvPr id="34" name="Image 8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" y="3214142"/>
            <a:ext cx="274320" cy="274320"/>
          </a:xfrm>
          <a:prstGeom prst="rect">
            <a:avLst/>
          </a:prstGeom>
        </p:spPr>
      </p:pic>
      <p:pic>
        <p:nvPicPr>
          <p:cNvPr id="35" name="Image 9" descr="/tmp/claude-0/-home-user-SD-/6071e542-76be-5aaa-a13b-481d427eef5d/scratchpad/pathway-pptx/icons/dru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" y="3930440"/>
            <a:ext cx="274320" cy="274320"/>
          </a:xfrm>
          <a:prstGeom prst="rect">
            <a:avLst/>
          </a:prstGeom>
        </p:spPr>
      </p:pic>
      <p:pic>
        <p:nvPicPr>
          <p:cNvPr id="36" name="Image 10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176" y="4646737"/>
            <a:ext cx="274320" cy="274320"/>
          </a:xfrm>
          <a:prstGeom prst="rect">
            <a:avLst/>
          </a:prstGeom>
        </p:spPr>
      </p:pic>
      <p:pic>
        <p:nvPicPr>
          <p:cNvPr id="37" name="Image 11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176" y="5363035"/>
            <a:ext cx="274320" cy="274320"/>
          </a:xfrm>
          <a:prstGeom prst="rect">
            <a:avLst/>
          </a:prstGeom>
        </p:spPr>
      </p:pic>
      <p:pic>
        <p:nvPicPr>
          <p:cNvPr id="38" name="Image 12" descr="/tmp/claude-0/-home-user-SD-/6071e542-76be-5aaa-a13b-481d427eef5d/scratchpad/pathway-pptx/icons/clea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" y="6079333"/>
            <a:ext cx="274320" cy="274320"/>
          </a:xfrm>
          <a:prstGeom prst="rect">
            <a:avLst/>
          </a:prstGeom>
        </p:spPr>
      </p:pic>
      <p:pic>
        <p:nvPicPr>
          <p:cNvPr id="39" name="Image 13" descr="/tmp/claude-0/-home-user-SD-/6071e542-76be-5aaa-a13b-481d427eef5d/scratchpad/pathway-pptx/icons/not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5176" y="6931205"/>
            <a:ext cx="274320" cy="274320"/>
          </a:xfrm>
          <a:prstGeom prst="rect">
            <a:avLst/>
          </a:prstGeom>
        </p:spPr>
      </p:pic>
      <p:sp>
        <p:nvSpPr>
          <p:cNvPr id="40" name="Shape 23"/>
          <p:cNvSpPr/>
          <p:nvPr/>
        </p:nvSpPr>
        <p:spPr>
          <a:xfrm>
            <a:off x="228600" y="7671816"/>
            <a:ext cx="11734495" cy="1362456"/>
          </a:xfrm>
          <a:prstGeom prst="roundRect">
            <a:avLst>
              <a:gd name="adj" fmla="val 4027"/>
            </a:avLst>
          </a:prstGeom>
          <a:solidFill>
            <a:srgbClr val="FCE8E8"/>
          </a:solidFill>
          <a:ln w="15875">
            <a:solidFill>
              <a:srgbClr val="C53030"/>
            </a:solidFill>
            <a:prstDash val="solid"/>
          </a:ln>
        </p:spPr>
      </p:sp>
      <p:pic>
        <p:nvPicPr>
          <p:cNvPr id="41" name="Image 14" descr="/tmp/claude-0/-home-user-SD-/6071e542-76be-5aaa-a13b-481d427eef5d/scratchpad/pathway-pptx/icons/war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4048" y="7799832"/>
            <a:ext cx="347472" cy="347472"/>
          </a:xfrm>
          <a:prstGeom prst="rect">
            <a:avLst/>
          </a:prstGeom>
        </p:spPr>
      </p:pic>
      <p:sp>
        <p:nvSpPr>
          <p:cNvPr id="42" name="Text 24"/>
          <p:cNvSpPr/>
          <p:nvPr/>
        </p:nvSpPr>
        <p:spPr>
          <a:xfrm>
            <a:off x="841248" y="7726680"/>
            <a:ext cx="11048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この症状があれば、すぐにナースコール・受診してください</a:t>
            </a:r>
            <a:endParaRPr lang="en-US" sz="1100" dirty="0"/>
          </a:p>
        </p:txBody>
      </p:sp>
      <p:sp>
        <p:nvSpPr>
          <p:cNvPr id="43" name="Text 25"/>
          <p:cNvSpPr/>
          <p:nvPr/>
        </p:nvSpPr>
        <p:spPr>
          <a:xfrm>
            <a:off x="841248" y="8001000"/>
            <a:ext cx="1104869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・強くなる頭痛、吐き気、勢いよく吐く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・なんとなくぼんやりする、眠くて起きられない(ご家族が気づいた場合も)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・けいれん(体が勝手にふるえる、意識がなくなる)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・手や足が動かしにくい、言葉が出にくい、ものが二重に見える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・傷からの出血、透明な液のしみ出し、赤み・腫れ・熱をもつ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・ふくらはぎの腫れ・痛み、息苦しさ、胸の痛み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パス08　脳血管造影（脳神経内科）　患者さん用クリニカルパス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検査：脳血管造影(脳の血管の詳しい検査)を受ける方へ　※病状・検査結果により予定は変更になることがあります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6" name="Image 0" descr="/tmp/claude-0/-home-user-SD-/6071e542-76be-5aaa-a13b-481d427eef5d/scratchpad/pathway-pptx/icons/ad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6602" y="996696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176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入院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45662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621219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0" name="Image 1" descr="/tmp/claude-0/-home-user-SD-/6071e542-76be-5aaa-a13b-481d427eef5d/scratchpad/pathway-pptx/icons/pr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01" y="9966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12075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検査・準備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80352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968118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4" name="Image 2" descr="/tmp/claude-0/-home-user-SD-/6071e542-76be-5aaa-a13b-481d427eef5d/scratchpad/pathway-pptx/icons/tr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400" y="996696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8974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(血管造影)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7150425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7315017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8" name="Image 3" descr="/tmp/claude-0/-home-user-SD-/6071e542-76be-5aaa-a13b-481d427eef5d/scratchpad/pathway-pptx/icons/sc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7299" y="99669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305873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安静・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経過観察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949732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9661916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2" name="Image 4" descr="/tmp/claude-0/-home-user-SD-/6071e542-76be-5aaa-a13b-481d427eef5d/scratchpad/pathway-pptx/icons/ho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4198" y="996696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652772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退院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819656"/>
          <a:ext cx="117344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34440"/>
                <a:gridCol w="1681429"/>
                <a:gridCol w="1681429"/>
                <a:gridCol w="1681429"/>
                <a:gridCol w="1681429"/>
                <a:gridCol w="1681429"/>
                <a:gridCol w="1681429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日・時期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検査当日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検査後〜数時間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翌朝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6446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今日の目標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検査の準備が整う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今の状態を正確に記録できる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安全に検査を受ける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症状が変わらず出血もない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いつもどおり動ける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これからの方針が分かる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8293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検査・治療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血液検査(腎臓・血糖の確認)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手足の動き・言葉・見え方をくわしく確認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点滴を始めます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血圧・脈・手足の動きや言葉を繰り返し確認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傷の確認、脈の確認、手足・言葉の再確認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診察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93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お休みする薬・続ける薬をお伝えします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いつもの薬の確認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決められた薬のみ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点滴を続けます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お休みしていた薬の再開日をお伝えします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再開する薬・続ける薬の確認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8293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夜から食事を止めます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絶食(後で水分から)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お食事(いつもの形態でお出しします)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お食事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93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安静・歩行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制限なし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管を入れた場所により安静の仕方が変わります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6446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排泄・清潔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検査前にお手洗いへ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医師の指示に従います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シャワー(許可後)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通常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93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説明・練習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検査の目的(何を調べるか)の説明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検査中は息を止めること、動かないこと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気分が悪いときの伝え方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手(脚)のしびれ、腰や背中の痛みはすぐ知らせて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家での傷の見方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検査結果の説明日、これからの治療の見通し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pic>
        <p:nvPicPr>
          <p:cNvPr id="25" name="Image 5" descr="/tmp/claude-0/-home-user-SD-/6071e542-76be-5aaa-a13b-481d427eef5d/scratchpad/pathway-pptx/icons/reas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5176" y="2462035"/>
            <a:ext cx="274320" cy="274320"/>
          </a:xfrm>
          <a:prstGeom prst="rect">
            <a:avLst/>
          </a:prstGeom>
        </p:spPr>
      </p:pic>
      <p:pic>
        <p:nvPicPr>
          <p:cNvPr id="26" name="Image 6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" y="3199049"/>
            <a:ext cx="274320" cy="274320"/>
          </a:xfrm>
          <a:prstGeom prst="rect">
            <a:avLst/>
          </a:prstGeom>
        </p:spPr>
      </p:pic>
      <p:pic>
        <p:nvPicPr>
          <p:cNvPr id="27" name="Image 7" descr="/tmp/claude-0/-home-user-SD-/6071e542-76be-5aaa-a13b-481d427eef5d/scratchpad/pathway-pptx/icons/dru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" y="4028399"/>
            <a:ext cx="274320" cy="274320"/>
          </a:xfrm>
          <a:prstGeom prst="rect">
            <a:avLst/>
          </a:prstGeom>
        </p:spPr>
      </p:pic>
      <p:pic>
        <p:nvPicPr>
          <p:cNvPr id="28" name="Image 8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" y="4857750"/>
            <a:ext cx="274320" cy="274320"/>
          </a:xfrm>
          <a:prstGeom prst="rect">
            <a:avLst/>
          </a:prstGeom>
        </p:spPr>
      </p:pic>
      <p:pic>
        <p:nvPicPr>
          <p:cNvPr id="29" name="Image 9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" y="5687101"/>
            <a:ext cx="274320" cy="274320"/>
          </a:xfrm>
          <a:prstGeom prst="rect">
            <a:avLst/>
          </a:prstGeom>
        </p:spPr>
      </p:pic>
      <p:pic>
        <p:nvPicPr>
          <p:cNvPr id="30" name="Image 10" descr="/tmp/claude-0/-home-user-SD-/6071e542-76be-5aaa-a13b-481d427eef5d/scratchpad/pathway-pptx/icons/clea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176" y="6424115"/>
            <a:ext cx="274320" cy="274320"/>
          </a:xfrm>
          <a:prstGeom prst="rect">
            <a:avLst/>
          </a:prstGeom>
        </p:spPr>
      </p:pic>
      <p:pic>
        <p:nvPicPr>
          <p:cNvPr id="31" name="Image 11" descr="/tmp/claude-0/-home-user-SD-/6071e542-76be-5aaa-a13b-481d427eef5d/scratchpad/pathway-pptx/icons/not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176" y="7161129"/>
            <a:ext cx="274320" cy="274320"/>
          </a:xfrm>
          <a:prstGeom prst="rect">
            <a:avLst/>
          </a:prstGeom>
        </p:spPr>
      </p:pic>
      <p:sp>
        <p:nvSpPr>
          <p:cNvPr id="32" name="Shape 17"/>
          <p:cNvSpPr/>
          <p:nvPr/>
        </p:nvSpPr>
        <p:spPr>
          <a:xfrm>
            <a:off x="228600" y="7822692"/>
            <a:ext cx="11734495" cy="1211580"/>
          </a:xfrm>
          <a:prstGeom prst="roundRect">
            <a:avLst>
              <a:gd name="adj" fmla="val 4528"/>
            </a:avLst>
          </a:prstGeom>
          <a:solidFill>
            <a:srgbClr val="FCE8E8"/>
          </a:solidFill>
          <a:ln w="15875">
            <a:solidFill>
              <a:srgbClr val="C53030"/>
            </a:solidFill>
            <a:prstDash val="solid"/>
          </a:ln>
        </p:spPr>
      </p:sp>
      <p:pic>
        <p:nvPicPr>
          <p:cNvPr id="33" name="Image 12" descr="/tmp/claude-0/-home-user-SD-/6071e542-76be-5aaa-a13b-481d427eef5d/scratchpad/pathway-pptx/icons/war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048" y="7950708"/>
            <a:ext cx="347472" cy="347472"/>
          </a:xfrm>
          <a:prstGeom prst="rect">
            <a:avLst/>
          </a:prstGeom>
        </p:spPr>
      </p:pic>
      <p:sp>
        <p:nvSpPr>
          <p:cNvPr id="34" name="Text 18"/>
          <p:cNvSpPr/>
          <p:nvPr/>
        </p:nvSpPr>
        <p:spPr>
          <a:xfrm>
            <a:off x="841248" y="7877556"/>
            <a:ext cx="11048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この症状があれば、すぐにナースコール・受診してください</a:t>
            </a:r>
            <a:endParaRPr lang="en-US" sz="1100" dirty="0"/>
          </a:p>
        </p:txBody>
      </p:sp>
      <p:sp>
        <p:nvSpPr>
          <p:cNvPr id="35" name="Text 19"/>
          <p:cNvSpPr/>
          <p:nvPr/>
        </p:nvSpPr>
        <p:spPr>
          <a:xfrm>
            <a:off x="841248" y="8151876"/>
            <a:ext cx="1104869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・手や足が急に動かしにくい、力が入らない(もともとの症状が強くなった場合も)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・言葉が出にくい、ろれつが回らない、顔の片側がゆがむ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・目が見えにくい、ものが二重に見える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・管を入れた手(脚)のしびれ、冷たさ、色が悪い、腰や背中の痛み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・管を入れた場所からの出血、ふくらみ、体のかゆみ、じんましん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パス09　急性期脳梗塞　患者さん用クリニカルパス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脳梗塞で入院された方へ(ご本人・ご家族へ)　※病状・検査結果により予定は変更になることがあります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6" name="Image 0" descr="/tmp/claude-0/-home-user-SD-/6071e542-76be-5aaa-a13b-481d427eef5d/scratchpad/pathway-pptx/icons/ad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027" y="996696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176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入院・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06547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230069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0" name="Image 1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6776" y="9966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220925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症状の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02122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185818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4" name="Image 2" descr="/tmp/claude-0/-home-user-SD-/6071e542-76be-5aaa-a13b-481d427eef5d/scratchpad/pathway-pptx/icons/dru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2525" y="996696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76674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再発予防の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治療開始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597697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141568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8" name="Image 3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8274" y="99669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132424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飲み込みの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7932725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7317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2" name="Image 4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4023" y="996696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088173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起き上がる・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歩く練習</a:t>
            </a:r>
            <a:endParaRPr lang="en-US" sz="800" dirty="0"/>
          </a:p>
        </p:txBody>
      </p:sp>
      <p:sp>
        <p:nvSpPr>
          <p:cNvPr id="24" name="Text 17"/>
          <p:cNvSpPr/>
          <p:nvPr/>
        </p:nvSpPr>
        <p:spPr>
          <a:xfrm>
            <a:off x="988847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10053066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6" name="Image 5" descr="/tmp/claude-0/-home-user-SD-/6071e542-76be-5aaa-a13b-481d427eef5d/scratchpad/pathway-pptx/icons/h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9773" y="996696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043922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退院・転院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819656"/>
          <a:ext cx="117344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34440"/>
                <a:gridCol w="2017715"/>
                <a:gridCol w="2017715"/>
                <a:gridCol w="2017715"/>
                <a:gridCol w="2017715"/>
                <a:gridCol w="20177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日・時期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入院した日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1〜2日目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2〜3日目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4〜7日目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退院／転院前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8585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今日の目標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診断がつき、治療が始まる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症状が悪くならない、飲み込みを確認する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座る・立つ練習が進む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生活の動作が広がる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家(または次の病院)での過ごし方が分かる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8585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検査・治療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頭のCT・MRI、血液検査、心電図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血圧・脈・手足の動きや言葉を繰り返し確認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診察、必要に応じて画像検査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診察、血液検査(血圧・血糖など)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診察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点滴を始めます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再発を防ぐお薬を始めます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お薬を続けます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お薬を続けます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退院のお薬をお渡しします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8585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お休みします(飲み込みの確認をしてから)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飲み込みの検査をします。形・とろみでお出しします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飲み込みの様子を見ながら調整します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食事の形を調整します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家での食事の形・とろみをお伝えします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安静・歩行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ベッドで安静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状態が安定していれば座る練習から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短い時間を、回数を分けて起きます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歩く練習を進めます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移動の方法を決めます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667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排泄・清潔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ベッドの上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ベッド上／ポータブルトイレ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トイレへ(お手伝いします)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トイレ(できることを増やします)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方法を決めます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85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説明・練習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ご家族へ病状の説明。症状が変わったらすぐ知らせて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お口のケアをします(肺炎を防ぐため)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リハビリの開始。転ばないための注意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再発のサイン、お薬の大切さ、血圧の測り方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ご家族へ：食事の介助・飲み込みの注意・転倒予防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pic>
        <p:nvPicPr>
          <p:cNvPr id="29" name="Image 6" descr="/tmp/claude-0/-home-user-SD-/6071e542-76be-5aaa-a13b-481d427eef5d/scratchpad/pathway-pptx/icons/reas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" y="2568954"/>
            <a:ext cx="274320" cy="274320"/>
          </a:xfrm>
          <a:prstGeom prst="rect">
            <a:avLst/>
          </a:prstGeom>
        </p:spPr>
      </p:pic>
      <p:pic>
        <p:nvPicPr>
          <p:cNvPr id="30" name="Image 7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" y="3427470"/>
            <a:ext cx="274320" cy="274320"/>
          </a:xfrm>
          <a:prstGeom prst="rect">
            <a:avLst/>
          </a:prstGeom>
        </p:spPr>
      </p:pic>
      <p:pic>
        <p:nvPicPr>
          <p:cNvPr id="31" name="Image 8" descr="/tmp/claude-0/-home-user-SD-/6071e542-76be-5aaa-a13b-481d427eef5d/scratchpad/pathway-pptx/icons/dru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" y="4190402"/>
            <a:ext cx="274320" cy="274320"/>
          </a:xfrm>
          <a:prstGeom prst="rect">
            <a:avLst/>
          </a:prstGeom>
        </p:spPr>
      </p:pic>
      <p:pic>
        <p:nvPicPr>
          <p:cNvPr id="32" name="Image 9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" y="4953334"/>
            <a:ext cx="274320" cy="274320"/>
          </a:xfrm>
          <a:prstGeom prst="rect">
            <a:avLst/>
          </a:prstGeom>
        </p:spPr>
      </p:pic>
      <p:pic>
        <p:nvPicPr>
          <p:cNvPr id="33" name="Image 10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176" y="5716266"/>
            <a:ext cx="274320" cy="274320"/>
          </a:xfrm>
          <a:prstGeom prst="rect">
            <a:avLst/>
          </a:prstGeom>
        </p:spPr>
      </p:pic>
      <p:pic>
        <p:nvPicPr>
          <p:cNvPr id="34" name="Image 11" descr="/tmp/claude-0/-home-user-SD-/6071e542-76be-5aaa-a13b-481d427eef5d/scratchpad/pathway-pptx/icons/clea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176" y="6383614"/>
            <a:ext cx="274320" cy="274320"/>
          </a:xfrm>
          <a:prstGeom prst="rect">
            <a:avLst/>
          </a:prstGeom>
        </p:spPr>
      </p:pic>
      <p:pic>
        <p:nvPicPr>
          <p:cNvPr id="35" name="Image 12" descr="/tmp/claude-0/-home-user-SD-/6071e542-76be-5aaa-a13b-481d427eef5d/scratchpad/pathway-pptx/icons/not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" y="7146546"/>
            <a:ext cx="274320" cy="274320"/>
          </a:xfrm>
          <a:prstGeom prst="rect">
            <a:avLst/>
          </a:prstGeom>
        </p:spPr>
      </p:pic>
      <p:sp>
        <p:nvSpPr>
          <p:cNvPr id="36" name="Shape 20"/>
          <p:cNvSpPr/>
          <p:nvPr/>
        </p:nvSpPr>
        <p:spPr>
          <a:xfrm>
            <a:off x="228600" y="7822692"/>
            <a:ext cx="11734495" cy="1211580"/>
          </a:xfrm>
          <a:prstGeom prst="roundRect">
            <a:avLst>
              <a:gd name="adj" fmla="val 4528"/>
            </a:avLst>
          </a:prstGeom>
          <a:solidFill>
            <a:srgbClr val="FCE8E8"/>
          </a:solidFill>
          <a:ln w="15875">
            <a:solidFill>
              <a:srgbClr val="C53030"/>
            </a:solidFill>
            <a:prstDash val="solid"/>
          </a:ln>
        </p:spPr>
      </p:sp>
      <p:pic>
        <p:nvPicPr>
          <p:cNvPr id="37" name="Image 13" descr="/tmp/claude-0/-home-user-SD-/6071e542-76be-5aaa-a13b-481d427eef5d/scratchpad/pathway-pptx/icons/war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4048" y="7950708"/>
            <a:ext cx="347472" cy="347472"/>
          </a:xfrm>
          <a:prstGeom prst="rect">
            <a:avLst/>
          </a:prstGeom>
        </p:spPr>
      </p:pic>
      <p:sp>
        <p:nvSpPr>
          <p:cNvPr id="38" name="Text 21"/>
          <p:cNvSpPr/>
          <p:nvPr/>
        </p:nvSpPr>
        <p:spPr>
          <a:xfrm>
            <a:off x="841248" y="7877556"/>
            <a:ext cx="11048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この症状があれば、すぐにナースコール・受診してください</a:t>
            </a:r>
            <a:endParaRPr lang="en-US" sz="1100" dirty="0"/>
          </a:p>
        </p:txBody>
      </p:sp>
      <p:sp>
        <p:nvSpPr>
          <p:cNvPr id="39" name="Text 22"/>
          <p:cNvSpPr/>
          <p:nvPr/>
        </p:nvSpPr>
        <p:spPr>
          <a:xfrm>
            <a:off x="841248" y="8151876"/>
            <a:ext cx="1104869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・手や足が急に動かしにくくなった、前より動かなくなった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・言葉が出にくくなった、ろれつが回らなくなった、顔の片側がゆがむ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・なんとなくぼんやりする、眠くて起きられない(ご家族が気づいた場合も)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・食事や水でむせる、飲み込みにくい、食べたあとに熱が出る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・ふくらはぎの腫れ・痛み、胸の痛み、息苦しい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パス10　急性期脳梗塞・エダラボン注射（パス09に上乗せ）　患者さん用クリニカルパス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点滴のお薬(エダラボン)についてのご説明　※脳梗塞の入院パス(急性期脳梗塞)と合わせてお読みください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6" name="Image 0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6602" y="996696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176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投与前の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血液検査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45662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621219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0" name="Image 1" descr="/tmp/claude-0/-home-user-SD-/6071e542-76be-5aaa-a13b-481d427eef5d/scratchpad/pathway-pptx/icons/d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01" y="9966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12075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(1回30分)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80352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968118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4" name="Image 2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400" y="996696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8974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定期的な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血液検査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7150425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7315017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8" name="Image 3" descr="/tmp/claude-0/-home-user-SD-/6071e542-76be-5aaa-a13b-481d427eef5d/scratchpad/pathway-pptx/icons/dri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7299" y="99669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305873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朝夕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1日2回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949732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9661916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2" name="Image 4" descr="/tmp/claude-0/-home-user-SD-/6071e542-76be-5aaa-a13b-481d427eef5d/scratchpad/pathway-pptx/icons/ho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4198" y="996696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652772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投与終了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(最大14日間)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819656"/>
          <a:ext cx="117344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34440"/>
                <a:gridCol w="2522144"/>
                <a:gridCol w="2522144"/>
                <a:gridCol w="2522144"/>
                <a:gridCol w="252214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日・時期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点滴を始める前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点滴中(30分)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点滴を行っている期間(最大14日)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点滴が終わったとき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7925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今日の目標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安全に始められるか確認する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安全に点滴が終わる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腎臓・肝臓・血液に変化がない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安全に終了できた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10195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検査・治療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血液検査(腎臓・肝臓・血液・水分の状態を確認)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点滴中の様子を確認します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定期的に血液検査をします。尿の量を毎日記録します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血液検査で最終確認をします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25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点滴の準備をします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エダラボンの点滴(30分)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朝と夕方の1日2回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点滴を終了します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10195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飲み込みの検査をしてから始めます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お水・お茶をしっかりとってください(腎臓を守るため)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25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安静・歩行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点滴中は針の入っている所を動かさないで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尿の量を測らせていただきます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10195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説明・練習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お薬の目的と、確認する項目の説明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かゆみ・息苦しさ・気分の悪さがあればすぐ知らせて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あざ・鼻血・歯ぐきの出血があれば知らせて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点滴が終わったことの説明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5" name="Image 5" descr="/tmp/claude-0/-home-user-SD-/6071e542-76be-5aaa-a13b-481d427eef5d/scratchpad/pathway-pptx/icons/reas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5176" y="2535950"/>
            <a:ext cx="274320" cy="274320"/>
          </a:xfrm>
          <a:prstGeom prst="rect">
            <a:avLst/>
          </a:prstGeom>
        </p:spPr>
      </p:pic>
      <p:pic>
        <p:nvPicPr>
          <p:cNvPr id="26" name="Image 6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" y="3441968"/>
            <a:ext cx="274320" cy="274320"/>
          </a:xfrm>
          <a:prstGeom prst="rect">
            <a:avLst/>
          </a:prstGeom>
        </p:spPr>
      </p:pic>
      <p:pic>
        <p:nvPicPr>
          <p:cNvPr id="27" name="Image 7" descr="/tmp/claude-0/-home-user-SD-/6071e542-76be-5aaa-a13b-481d427eef5d/scratchpad/pathway-pptx/icons/dru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" y="4347986"/>
            <a:ext cx="274320" cy="274320"/>
          </a:xfrm>
          <a:prstGeom prst="rect">
            <a:avLst/>
          </a:prstGeom>
        </p:spPr>
      </p:pic>
      <p:pic>
        <p:nvPicPr>
          <p:cNvPr id="28" name="Image 8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" y="5254004"/>
            <a:ext cx="274320" cy="274320"/>
          </a:xfrm>
          <a:prstGeom prst="rect">
            <a:avLst/>
          </a:prstGeom>
        </p:spPr>
      </p:pic>
      <p:pic>
        <p:nvPicPr>
          <p:cNvPr id="29" name="Image 9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" y="6160022"/>
            <a:ext cx="274320" cy="274320"/>
          </a:xfrm>
          <a:prstGeom prst="rect">
            <a:avLst/>
          </a:prstGeom>
        </p:spPr>
      </p:pic>
      <p:pic>
        <p:nvPicPr>
          <p:cNvPr id="30" name="Image 10" descr="/tmp/claude-0/-home-user-SD-/6071e542-76be-5aaa-a13b-481d427eef5d/scratchpad/pathway-pptx/icons/not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176" y="7066040"/>
            <a:ext cx="274320" cy="274320"/>
          </a:xfrm>
          <a:prstGeom prst="rect">
            <a:avLst/>
          </a:prstGeom>
        </p:spPr>
      </p:pic>
      <p:sp>
        <p:nvSpPr>
          <p:cNvPr id="31" name="Shape 17"/>
          <p:cNvSpPr/>
          <p:nvPr/>
        </p:nvSpPr>
        <p:spPr>
          <a:xfrm>
            <a:off x="228600" y="7822692"/>
            <a:ext cx="11734495" cy="1211580"/>
          </a:xfrm>
          <a:prstGeom prst="roundRect">
            <a:avLst>
              <a:gd name="adj" fmla="val 4528"/>
            </a:avLst>
          </a:prstGeom>
          <a:solidFill>
            <a:srgbClr val="FCE8E8"/>
          </a:solidFill>
          <a:ln w="15875">
            <a:solidFill>
              <a:srgbClr val="C53030"/>
            </a:solidFill>
            <a:prstDash val="solid"/>
          </a:ln>
        </p:spPr>
      </p:sp>
      <p:pic>
        <p:nvPicPr>
          <p:cNvPr id="32" name="Image 11" descr="/tmp/claude-0/-home-user-SD-/6071e542-76be-5aaa-a13b-481d427eef5d/scratchpad/pathway-pptx/icons/war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4048" y="7950708"/>
            <a:ext cx="347472" cy="347472"/>
          </a:xfrm>
          <a:prstGeom prst="rect">
            <a:avLst/>
          </a:prstGeom>
        </p:spPr>
      </p:pic>
      <p:sp>
        <p:nvSpPr>
          <p:cNvPr id="33" name="Text 18"/>
          <p:cNvSpPr/>
          <p:nvPr/>
        </p:nvSpPr>
        <p:spPr>
          <a:xfrm>
            <a:off x="841248" y="7877556"/>
            <a:ext cx="11048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この症状があれば、すぐにナースコール・受診してください</a:t>
            </a:r>
            <a:endParaRPr lang="en-US" sz="1100" dirty="0"/>
          </a:p>
        </p:txBody>
      </p:sp>
      <p:sp>
        <p:nvSpPr>
          <p:cNvPr id="34" name="Text 19"/>
          <p:cNvSpPr/>
          <p:nvPr/>
        </p:nvSpPr>
        <p:spPr>
          <a:xfrm>
            <a:off x="841248" y="8151876"/>
            <a:ext cx="1104869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・体のかゆみ、発疹、じんましん、息が苦しい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・点滴の針が入っている所が痛い、腫れてきた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・尿の量が減った、尿が出ない、体がむくむ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・あざができやすい、鼻血、歯ぐきの出血、尿が赤い、便が黒い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・白目や皮膚が黄色くなってきた、強いだるさ、熱が出た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パス12　脳内出血（急性期）　患者さん用クリニカルパス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脳出血で入院された方へ(ご本人・ご家族へ)　※病状・検査結果により予定は変更になることがあります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6" name="Image 0" descr="/tmp/claude-0/-home-user-SD-/6071e542-76be-5aaa-a13b-481d427eef5d/scratchpad/pathway-pptx/icons/ad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027" y="996696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176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入院・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06547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230069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0" name="Image 1" descr="/tmp/claude-0/-home-user-SD-/6071e542-76be-5aaa-a13b-481d427eef5d/scratchpad/pathway-pptx/icons/d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6776" y="9966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220925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血圧を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下げる治療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02122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185818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4" name="Image 2" descr="/tmp/claude-0/-home-user-SD-/6071e542-76be-5aaa-a13b-481d427eef5d/scratchpad/pathway-pptx/icons/sc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2525" y="996696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76674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CTで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経過観察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597697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141568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8" name="Image 3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8274" y="99669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132424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飲み込みの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7932725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7317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2" name="Image 4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4023" y="996696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088173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起き上がる・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歩く練習</a:t>
            </a:r>
            <a:endParaRPr lang="en-US" sz="800" dirty="0"/>
          </a:p>
        </p:txBody>
      </p:sp>
      <p:sp>
        <p:nvSpPr>
          <p:cNvPr id="24" name="Text 17"/>
          <p:cNvSpPr/>
          <p:nvPr/>
        </p:nvSpPr>
        <p:spPr>
          <a:xfrm>
            <a:off x="988847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10053066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6" name="Image 5" descr="/tmp/claude-0/-home-user-SD-/6071e542-76be-5aaa-a13b-481d427eef5d/scratchpad/pathway-pptx/icons/h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9773" y="996696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043922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退院・転院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819656"/>
          <a:ext cx="117344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34440"/>
                <a:gridCol w="2017715"/>
                <a:gridCol w="2017715"/>
                <a:gridCol w="2017715"/>
                <a:gridCol w="2017715"/>
                <a:gridCol w="20177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日・時期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入院した日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入院1日目まで(24時間)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2〜3日目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4〜7日目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退院／転院前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9409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今日の目標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血圧を下げて出血が広がるのを防ぐ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血圧が目標の範囲で保たれる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血圧が保たれ体を起こせる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1週間、血圧が目標範囲で保たれる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家(または次の病院)での過ごし方が分かる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9409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検査・治療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頭のCT、血液検査、心電図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血圧をこまめに測ります、頭のCTで確認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血圧・意識・手足の動きの確認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血液検査(腎臓の働きも確認)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診察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409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点滴で血圧を下げるお薬を始めます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点滴のお薬を調整します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点滴のお薬を続けます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点滴から飲み薬へ切り替えていきます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退院のお薬(血圧の薬)をお渡しします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9409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お休みします(飲み込みの確認をしてから)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お休みを続けます、お口のケアをします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飲み込みの検査をします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食事の形を調整します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家での食事(塩分)をお伝えします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安静・歩行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ベッドで安静。急に体を動かさないで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ベッドで安静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血圧が安定していれば座る練習から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歩く練習を進めます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移動の方法を決めます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9409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説明・練習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ご家族へ病状の説明。具合の変化はすぐ知らせて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お口のケアをします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リハビリの開始。いきまないこと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血圧管理の大切さ、血圧の測り方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血圧手帳の使い方、ご家族への説明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9" name="Image 6" descr="/tmp/claude-0/-home-user-SD-/6071e542-76be-5aaa-a13b-481d427eef5d/scratchpad/pathway-pptx/icons/reas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" y="2610165"/>
            <a:ext cx="274320" cy="274320"/>
          </a:xfrm>
          <a:prstGeom prst="rect">
            <a:avLst/>
          </a:prstGeom>
        </p:spPr>
      </p:pic>
      <p:pic>
        <p:nvPicPr>
          <p:cNvPr id="30" name="Image 7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" y="3551103"/>
            <a:ext cx="274320" cy="274320"/>
          </a:xfrm>
          <a:prstGeom prst="rect">
            <a:avLst/>
          </a:prstGeom>
        </p:spPr>
      </p:pic>
      <p:pic>
        <p:nvPicPr>
          <p:cNvPr id="31" name="Image 8" descr="/tmp/claude-0/-home-user-SD-/6071e542-76be-5aaa-a13b-481d427eef5d/scratchpad/pathway-pptx/icons/dru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" y="4492041"/>
            <a:ext cx="274320" cy="274320"/>
          </a:xfrm>
          <a:prstGeom prst="rect">
            <a:avLst/>
          </a:prstGeom>
        </p:spPr>
      </p:pic>
      <p:pic>
        <p:nvPicPr>
          <p:cNvPr id="32" name="Image 9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" y="5432979"/>
            <a:ext cx="274320" cy="274320"/>
          </a:xfrm>
          <a:prstGeom prst="rect">
            <a:avLst/>
          </a:prstGeom>
        </p:spPr>
      </p:pic>
      <p:pic>
        <p:nvPicPr>
          <p:cNvPr id="33" name="Image 10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176" y="6269157"/>
            <a:ext cx="274320" cy="274320"/>
          </a:xfrm>
          <a:prstGeom prst="rect">
            <a:avLst/>
          </a:prstGeom>
        </p:spPr>
      </p:pic>
      <p:pic>
        <p:nvPicPr>
          <p:cNvPr id="34" name="Image 11" descr="/tmp/claude-0/-home-user-SD-/6071e542-76be-5aaa-a13b-481d427eef5d/scratchpad/pathway-pptx/icons/not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176" y="7105335"/>
            <a:ext cx="274320" cy="274320"/>
          </a:xfrm>
          <a:prstGeom prst="rect">
            <a:avLst/>
          </a:prstGeom>
        </p:spPr>
      </p:pic>
      <p:sp>
        <p:nvSpPr>
          <p:cNvPr id="35" name="Shape 20"/>
          <p:cNvSpPr/>
          <p:nvPr/>
        </p:nvSpPr>
        <p:spPr>
          <a:xfrm>
            <a:off x="228600" y="7822692"/>
            <a:ext cx="11734495" cy="1211580"/>
          </a:xfrm>
          <a:prstGeom prst="roundRect">
            <a:avLst>
              <a:gd name="adj" fmla="val 4528"/>
            </a:avLst>
          </a:prstGeom>
          <a:solidFill>
            <a:srgbClr val="FCE8E8"/>
          </a:solidFill>
          <a:ln w="15875">
            <a:solidFill>
              <a:srgbClr val="C53030"/>
            </a:solidFill>
            <a:prstDash val="solid"/>
          </a:ln>
        </p:spPr>
      </p:sp>
      <p:pic>
        <p:nvPicPr>
          <p:cNvPr id="36" name="Image 12" descr="/tmp/claude-0/-home-user-SD-/6071e542-76be-5aaa-a13b-481d427eef5d/scratchpad/pathway-pptx/icons/war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048" y="7950708"/>
            <a:ext cx="347472" cy="347472"/>
          </a:xfrm>
          <a:prstGeom prst="rect">
            <a:avLst/>
          </a:prstGeom>
        </p:spPr>
      </p:pic>
      <p:sp>
        <p:nvSpPr>
          <p:cNvPr id="37" name="Text 21"/>
          <p:cNvSpPr/>
          <p:nvPr/>
        </p:nvSpPr>
        <p:spPr>
          <a:xfrm>
            <a:off x="841248" y="7877556"/>
            <a:ext cx="11048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この症状があれば、すぐにナースコール・受診してください</a:t>
            </a:r>
            <a:endParaRPr lang="en-US" sz="1100" dirty="0"/>
          </a:p>
        </p:txBody>
      </p:sp>
      <p:sp>
        <p:nvSpPr>
          <p:cNvPr id="38" name="Text 22"/>
          <p:cNvSpPr/>
          <p:nvPr/>
        </p:nvSpPr>
        <p:spPr>
          <a:xfrm>
            <a:off x="841248" y="8151876"/>
            <a:ext cx="1104869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・頭痛が強くなる、吐き気がする、吐いた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・なんとなくぼんやりする、眠くて起きられない(ご家族が気づいた場合も)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・手や足が急に動かしにくくなった、言葉が出にくくなった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・けいれん、目が見えにくい、ものが二重に見える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・ふくらはぎの腫れ・痛み、胸の痛み、尿の量が減った、体がむくむ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パス13　静注血栓溶解療法（rt-PA静注療法）　患者さん用クリニカルパス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血栓を溶かす点滴(t-PA静注療法)を受けられる方・ご家族へ　※症状が出てから4時間半以内に開始する必要があります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6" name="Image 0" descr="/tmp/claude-0/-home-user-SD-/6071e542-76be-5aaa-a13b-481d427eef5d/scratchpad/pathway-pptx/icons/ad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027" y="996696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176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病院到着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06547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230069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0" name="Image 1" descr="/tmp/claude-0/-home-user-SD-/6071e542-76be-5aaa-a13b-481d427eef5d/scratchpad/pathway-pptx/icons/sc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6776" y="9966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220925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CTで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出血の確認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02122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185818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4" name="Image 2" descr="/tmp/claude-0/-home-user-SD-/6071e542-76be-5aaa-a13b-481d427eef5d/scratchpad/pathway-pptx/icons/d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2525" y="996696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76674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点滴開始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(血栓を溶かす)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597697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141568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8" name="Image 3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8274" y="99669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132424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繰り返し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血圧・症状確認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7932725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7317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2" name="Image 4" descr="/tmp/claude-0/-home-user-SD-/6071e542-76be-5aaa-a13b-481d427eef5d/scratchpad/pathway-pptx/icons/sca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4023" y="996696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088173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24時間後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CTで再確認</a:t>
            </a:r>
            <a:endParaRPr lang="en-US" sz="800" dirty="0"/>
          </a:p>
        </p:txBody>
      </p:sp>
      <p:sp>
        <p:nvSpPr>
          <p:cNvPr id="24" name="Text 17"/>
          <p:cNvSpPr/>
          <p:nvPr/>
        </p:nvSpPr>
        <p:spPr>
          <a:xfrm>
            <a:off x="988847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10053066" y="932688"/>
            <a:ext cx="186430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6" name="Image 5" descr="/tmp/claude-0/-home-user-SD-/6071e542-76be-5aaa-a13b-481d427eef5d/scratchpad/pathway-pptx/icons/h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9773" y="996696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043922" y="1335024"/>
            <a:ext cx="18825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脳梗塞の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入院治療へ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819656"/>
          <a:ext cx="117344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34440"/>
                <a:gridCol w="2017715"/>
                <a:gridCol w="2017715"/>
                <a:gridCol w="2017715"/>
                <a:gridCol w="2017715"/>
                <a:gridCol w="20177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日・時期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到着してすぐ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点滴を始める前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点滴中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点滴のあと〜24時間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24時間後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9409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今日の目標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治療できるかを急いで判断する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血圧を下げて安全に始められるようにする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安全に点滴を終える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出血が起きないことを確かめる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次の段階の治療へ進む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9409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検査・治療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頭のCT(出血がないか確認)、血液検査、血糖、体重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血圧を測ります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血圧・手足の動き・言葉を繰り返し確認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血圧と症状の確認を繰り返し行います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もう一度、頭のCTを撮ります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409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点滴の管を入れます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必要なら血圧を下げるお薬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血栓を溶かすお薬の点滴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24時間は血をサラサラにするお薬は使いません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出血がなければ再発を防ぐお薬を始めます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731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24時間はお休みします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飲み込みの検査をしてから始めます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409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安静・歩行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ベッドで安静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ベッドで安静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ベッドで安静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ベッドで安静(動いてよい時期は医師が判断)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少しずつ起き上がる練習を始めます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9409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説明・練習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症状が始まった正確な時刻を教えてください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治療の目的と、出血の危険についてご説明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頭が痛い・気持ちが悪い・口や舌が腫れる感じはすぐ知らせて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何度もお声をかけます、ご協力をお願いします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今後の治療の説明(脳梗塞の入院の流れへ)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9" name="Image 6" descr="/tmp/claude-0/-home-user-SD-/6071e542-76be-5aaa-a13b-481d427eef5d/scratchpad/pathway-pptx/icons/reas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" y="2610165"/>
            <a:ext cx="274320" cy="274320"/>
          </a:xfrm>
          <a:prstGeom prst="rect">
            <a:avLst/>
          </a:prstGeom>
        </p:spPr>
      </p:pic>
      <p:pic>
        <p:nvPicPr>
          <p:cNvPr id="30" name="Image 7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" y="3551103"/>
            <a:ext cx="274320" cy="274320"/>
          </a:xfrm>
          <a:prstGeom prst="rect">
            <a:avLst/>
          </a:prstGeom>
        </p:spPr>
      </p:pic>
      <p:pic>
        <p:nvPicPr>
          <p:cNvPr id="31" name="Image 8" descr="/tmp/claude-0/-home-user-SD-/6071e542-76be-5aaa-a13b-481d427eef5d/scratchpad/pathway-pptx/icons/dru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" y="4492041"/>
            <a:ext cx="274320" cy="274320"/>
          </a:xfrm>
          <a:prstGeom prst="rect">
            <a:avLst/>
          </a:prstGeom>
        </p:spPr>
      </p:pic>
      <p:pic>
        <p:nvPicPr>
          <p:cNvPr id="32" name="Image 9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" y="5328219"/>
            <a:ext cx="274320" cy="274320"/>
          </a:xfrm>
          <a:prstGeom prst="rect">
            <a:avLst/>
          </a:prstGeom>
        </p:spPr>
      </p:pic>
      <p:pic>
        <p:nvPicPr>
          <p:cNvPr id="33" name="Image 10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176" y="6164397"/>
            <a:ext cx="274320" cy="274320"/>
          </a:xfrm>
          <a:prstGeom prst="rect">
            <a:avLst/>
          </a:prstGeom>
        </p:spPr>
      </p:pic>
      <p:pic>
        <p:nvPicPr>
          <p:cNvPr id="34" name="Image 11" descr="/tmp/claude-0/-home-user-SD-/6071e542-76be-5aaa-a13b-481d427eef5d/scratchpad/pathway-pptx/icons/not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176" y="7105335"/>
            <a:ext cx="274320" cy="274320"/>
          </a:xfrm>
          <a:prstGeom prst="rect">
            <a:avLst/>
          </a:prstGeom>
        </p:spPr>
      </p:pic>
      <p:sp>
        <p:nvSpPr>
          <p:cNvPr id="35" name="Shape 20"/>
          <p:cNvSpPr/>
          <p:nvPr/>
        </p:nvSpPr>
        <p:spPr>
          <a:xfrm>
            <a:off x="228600" y="7822692"/>
            <a:ext cx="11734495" cy="1211580"/>
          </a:xfrm>
          <a:prstGeom prst="roundRect">
            <a:avLst>
              <a:gd name="adj" fmla="val 4528"/>
            </a:avLst>
          </a:prstGeom>
          <a:solidFill>
            <a:srgbClr val="FCE8E8"/>
          </a:solidFill>
          <a:ln w="15875">
            <a:solidFill>
              <a:srgbClr val="C53030"/>
            </a:solidFill>
            <a:prstDash val="solid"/>
          </a:ln>
        </p:spPr>
      </p:sp>
      <p:pic>
        <p:nvPicPr>
          <p:cNvPr id="36" name="Image 12" descr="/tmp/claude-0/-home-user-SD-/6071e542-76be-5aaa-a13b-481d427eef5d/scratchpad/pathway-pptx/icons/war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048" y="7950708"/>
            <a:ext cx="347472" cy="347472"/>
          </a:xfrm>
          <a:prstGeom prst="rect">
            <a:avLst/>
          </a:prstGeom>
        </p:spPr>
      </p:pic>
      <p:sp>
        <p:nvSpPr>
          <p:cNvPr id="37" name="Text 21"/>
          <p:cNvSpPr/>
          <p:nvPr/>
        </p:nvSpPr>
        <p:spPr>
          <a:xfrm>
            <a:off x="841248" y="7877556"/>
            <a:ext cx="11048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この症状があれば、すぐにナースコール・受診してください</a:t>
            </a:r>
            <a:endParaRPr lang="en-US" sz="1100" dirty="0"/>
          </a:p>
        </p:txBody>
      </p:sp>
      <p:sp>
        <p:nvSpPr>
          <p:cNvPr id="38" name="Text 22"/>
          <p:cNvSpPr/>
          <p:nvPr/>
        </p:nvSpPr>
        <p:spPr>
          <a:xfrm>
            <a:off x="841248" y="8151876"/>
            <a:ext cx="1104869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・頭が痛い、痛みが強くなる、気持ちが悪い、吐いた ← 特に大切です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・ぼんやりする、眠くなる(ご家族が気づいた場合も)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・手足が動かなくなった、言葉が出にくくなった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・口や舌が腫れる感じ、しゃべりにくい、のどがつまる感じ、息が苦しい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・歯ぐきから血が出る、鼻血、尿が赤い、便が黒い、血を吐いた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パス14　筋萎縮性側索硬化症（ALS）・エダラボン導入／継続　患者さん用クリニカルパス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エダラボンによる治療を受けられる方・ご家族へ　※このお薬は症状を治すお薬ではなく「進行をおさえる」ことを目指すお薬です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6" name="Image 0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6602" y="996696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176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治療前の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456627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621219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0" name="Image 1" descr="/tmp/claude-0/-home-user-SD-/6071e542-76be-5aaa-a13b-481d427eef5d/scratchpad/pathway-pptx/icons/d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01" y="9966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12075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治療開始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(点滴/内服)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803526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968118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4" name="Image 2" descr="/tmp/claude-0/-home-user-SD-/6071e542-76be-5aaa-a13b-481d427eef5d/scratchpad/pathway-pptx/icons/no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400" y="996696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8974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お休みの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7150425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7315017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18" name="Image 3" descr="/tmp/claude-0/-home-user-SD-/6071e542-76be-5aaa-a13b-481d427eef5d/scratchpad/pathway-pptx/icons/dri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7299" y="99669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305873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2回目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以降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9497324" y="1202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9661916" y="932688"/>
            <a:ext cx="2255459" cy="777240"/>
          </a:xfrm>
          <a:prstGeom prst="roundRect">
            <a:avLst>
              <a:gd name="adj" fmla="val 9412"/>
            </a:avLst>
          </a:prstGeom>
          <a:solidFill>
            <a:srgbClr val="E8EEF5"/>
          </a:solidFill>
          <a:ln w="12700">
            <a:solidFill>
              <a:srgbClr val="B8CCE4"/>
            </a:solidFill>
            <a:prstDash val="solid"/>
          </a:ln>
        </p:spPr>
      </p:sp>
      <p:pic>
        <p:nvPicPr>
          <p:cNvPr id="22" name="Image 4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4198" y="996696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652772" y="1335024"/>
            <a:ext cx="22737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定期的な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見直し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819656"/>
          <a:ext cx="117344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34440"/>
                <a:gridCol w="1681429"/>
                <a:gridCol w="1681429"/>
                <a:gridCol w="1681429"/>
                <a:gridCol w="1681429"/>
                <a:gridCol w="1681429"/>
                <a:gridCol w="1681429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日・時期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治療を始める前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始める日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お薬を使っている期間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お休みの期間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2回目以降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定期の見直し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828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今日の目標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安全に始められるか確認する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安全に1回目を実施できる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体に負担が出ていないか確認する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ご自宅で安心して過ごせる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安全に続けられる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これからのことを一緒に考える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828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検査・治療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血液検査、呼吸の検査(息を吸う力)、飲み込みの確認、体重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体調の確認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定期的に血液検査をします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体調の確認(外来)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定期的な血液検査、呼吸・体重・飲み込みの確認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呼吸の検査、体重、飲み込みの確認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8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今のお薬を確認します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点滴、または飲むお薬を始めます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お薬を続けます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お薬を続けます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続けるかどうかを一緒に相談します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828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いつもの食事の形を確認します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飲むタイプの場合、食事の時間との関係を決めます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水分をしっかりとってください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飲み込みに合わせて調整します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栄養のとり方を相談します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8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安静・歩行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今の動作・生活の様子を伺います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いつもどおり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リハビリを行います。転ばないように環境を整えます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訪問看護・リハビリなどのご利用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必要な福祉用具・支援を調整します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生活の支援を見直します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11422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説明・練習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お薬の目的(進行をおさえること)のご説明。ご希望・ご心配を伺います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お薬の使い方の練習、知らせてほしい症状の説明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飲み方・使い方の確認、ご家族へのご説明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次回の予定の説明、困ったときの連絡先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困りごと・ご希望を伺います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呼吸や栄養のこれからについて、情報をお伝えし一緒に考えます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8100" marR="38100" marT="38100" marB="38100" anchor="t">
                    <a:lnL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5" name="Image 5" descr="/tmp/claude-0/-home-user-SD-/6071e542-76be-5aaa-a13b-481d427eef5d/scratchpad/pathway-pptx/icons/reas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5176" y="2553994"/>
            <a:ext cx="274320" cy="274320"/>
          </a:xfrm>
          <a:prstGeom prst="rect">
            <a:avLst/>
          </a:prstGeom>
        </p:spPr>
      </p:pic>
      <p:pic>
        <p:nvPicPr>
          <p:cNvPr id="26" name="Image 6" descr="/tmp/claude-0/-home-user-SD-/6071e542-76be-5aaa-a13b-481d427eef5d/scratchpad/pathway-pptx/icons/tes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" y="3382589"/>
            <a:ext cx="274320" cy="274320"/>
          </a:xfrm>
          <a:prstGeom prst="rect">
            <a:avLst/>
          </a:prstGeom>
        </p:spPr>
      </p:pic>
      <p:pic>
        <p:nvPicPr>
          <p:cNvPr id="27" name="Image 7" descr="/tmp/claude-0/-home-user-SD-/6071e542-76be-5aaa-a13b-481d427eef5d/scratchpad/pathway-pptx/icons/dru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" y="4211185"/>
            <a:ext cx="274320" cy="274320"/>
          </a:xfrm>
          <a:prstGeom prst="rect">
            <a:avLst/>
          </a:prstGeom>
        </p:spPr>
      </p:pic>
      <p:pic>
        <p:nvPicPr>
          <p:cNvPr id="28" name="Image 8" descr="/tmp/claude-0/-home-user-SD-/6071e542-76be-5aaa-a13b-481d427eef5d/scratchpad/pathway-pptx/icons/mea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" y="5039780"/>
            <a:ext cx="274320" cy="274320"/>
          </a:xfrm>
          <a:prstGeom prst="rect">
            <a:avLst/>
          </a:prstGeom>
        </p:spPr>
      </p:pic>
      <p:pic>
        <p:nvPicPr>
          <p:cNvPr id="29" name="Image 9" descr="/tmp/claude-0/-home-user-SD-/6071e542-76be-5aaa-a13b-481d427eef5d/scratchpad/pathway-pptx/icons/wal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" y="5868376"/>
            <a:ext cx="274320" cy="274320"/>
          </a:xfrm>
          <a:prstGeom prst="rect">
            <a:avLst/>
          </a:prstGeom>
        </p:spPr>
      </p:pic>
      <p:pic>
        <p:nvPicPr>
          <p:cNvPr id="30" name="Image 10" descr="/tmp/claude-0/-home-user-SD-/6071e542-76be-5aaa-a13b-481d427eef5d/scratchpad/pathway-pptx/icons/not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176" y="6853801"/>
            <a:ext cx="274320" cy="274320"/>
          </a:xfrm>
          <a:prstGeom prst="rect">
            <a:avLst/>
          </a:prstGeom>
        </p:spPr>
      </p:pic>
      <p:sp>
        <p:nvSpPr>
          <p:cNvPr id="31" name="Shape 17"/>
          <p:cNvSpPr/>
          <p:nvPr/>
        </p:nvSpPr>
        <p:spPr>
          <a:xfrm>
            <a:off x="228600" y="7671816"/>
            <a:ext cx="11734495" cy="1362456"/>
          </a:xfrm>
          <a:prstGeom prst="roundRect">
            <a:avLst>
              <a:gd name="adj" fmla="val 4027"/>
            </a:avLst>
          </a:prstGeom>
          <a:solidFill>
            <a:srgbClr val="FCE8E8"/>
          </a:solidFill>
          <a:ln w="15875">
            <a:solidFill>
              <a:srgbClr val="C53030"/>
            </a:solidFill>
            <a:prstDash val="solid"/>
          </a:ln>
        </p:spPr>
      </p:sp>
      <p:pic>
        <p:nvPicPr>
          <p:cNvPr id="32" name="Image 11" descr="/tmp/claude-0/-home-user-SD-/6071e542-76be-5aaa-a13b-481d427eef5d/scratchpad/pathway-pptx/icons/war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4048" y="7799832"/>
            <a:ext cx="347472" cy="347472"/>
          </a:xfrm>
          <a:prstGeom prst="rect">
            <a:avLst/>
          </a:prstGeom>
        </p:spPr>
      </p:pic>
      <p:sp>
        <p:nvSpPr>
          <p:cNvPr id="33" name="Text 18"/>
          <p:cNvSpPr/>
          <p:nvPr/>
        </p:nvSpPr>
        <p:spPr>
          <a:xfrm>
            <a:off x="841248" y="7726680"/>
            <a:ext cx="11048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この症状があれば、すぐにナースコール・受診してください</a:t>
            </a:r>
            <a:endParaRPr lang="en-US" sz="1100" dirty="0"/>
          </a:p>
        </p:txBody>
      </p:sp>
      <p:sp>
        <p:nvSpPr>
          <p:cNvPr id="34" name="Text 19"/>
          <p:cNvSpPr/>
          <p:nvPr/>
        </p:nvSpPr>
        <p:spPr>
          <a:xfrm>
            <a:off x="841248" y="8001000"/>
            <a:ext cx="1104869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・尿の量が減った、尿が出にくい、手足や顔がむくむ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・あざができやすい、鼻血、歯ぐきの出血、尿が赤い、便が黒い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・白目や皮膚が黄色くなってきた、強いだるさ、食欲がない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・発疹、かゆみ、息が苦しい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・朝の頭痛、昼間の強い眠気、横になると息苦しい(呼吸のサイン)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・むせることが増えた、食事に時間がかかる、体重が減ってきた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2026-08-19T05:04:56Z</dcterms:created>
  <dcterms:modified xsi:type="dcterms:W3CDTF">2026-08-19T05:04:56Z</dcterms:modified>
</cp:coreProperties>
</file>