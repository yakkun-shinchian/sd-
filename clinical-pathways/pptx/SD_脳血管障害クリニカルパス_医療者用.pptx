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9144000"/>
  <p:notesSz cx="9144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パス01　頚動脈ステント留置術（CAS）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入院〜術当日</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術前(当日)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術直後〜帰室</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67919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抗血小板薬の導入・服薬遵守確認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アレルギー歴聴取</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腎機能(eGFR)評価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意識・NIHSS・神経所見のベースライン記録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血圧(両上肢)・脈拍・体温・SpO2</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ビグアナイド系薬の休薬確認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穿刺部皮膚状態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絶食・排尿確認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術直前の神経所見再確認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ビグアナイド休薬の最終確認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意識・瞳孔・麻痺・構音・失語(ベースライン対比)</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穿刺部の出血・血腫・末梢動脈触知</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徐脈・血圧低下(頚動脈洞反射)</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頭痛の有無(過灌流症候群)</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9961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血算・凝固・生化学(eGFR)</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頚部エコー/CTA/MRA</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未実施項目の採血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心電図</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219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家庭環境・服薬管理者の確認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219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床上安静・穿刺部固定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219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通常(術前入浴)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219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術前排尿</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床上排泄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219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常用食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A0AEC0"/>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219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51631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①ステント内血栓症予防のため抗血小板薬を術前から導入する。②造影剤使用前に腎機能を評価しCIN予防策を判定する。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①術後の新規神経症状を判定する基準としてベースライン記録が必須。②ビグアナイド系薬は造影剤使用時に休薬が必要。③大動脈弓・頚動脈の解剖評価がCASのリスク評価に直結する。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①休薬が守られないとCIN・乳酸アシドーシスのリスクが残る。②術直前の神経所見は術中変化の判定基準となる。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周術期脳卒中の早期発見のため意識・神経所見をベースラインと対比する。②過灌流症候群は血行再建後に頭痛・けいれん・脳出血を呈しうるため血圧管理が重要。③頚動脈洞刺激により徐脈・血圧低下が生じう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73455"/>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212863"/>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923635"/>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545560"/>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167485"/>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789410"/>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411335"/>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033261"/>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102380"/>
            <a:ext cx="310896"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パス01　頚動脈ステント留置術（CAS）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帰室後〜退院</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1〜6時間後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当日夜間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POD1</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POD2〜退院</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25989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血圧が目標域内か(CHS徴候の監視)</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穿刺部の疼痛増強</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腰背部痛(鼠径アクセス時)</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夜間の神経症状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尿量確保</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起立時症状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造影後の腎機能評価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抗血小板薬の確実な内服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歩行時のふらつき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穿刺部の最終確認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教育理解度の確認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医師指示により採血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血清Cr(造影後72時間以内)</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退院後の服薬管理者確認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退院サマリ・紹介状</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床上安静(継続)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安静解除(条件充足時)</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シャワー可否は医師指示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床上排泄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床上排泄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トイレ歩行(離床後)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医師指示で食事開始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170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端座位→起立→歩行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病棟内歩行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44768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①CHSの初発症状は同側の拍動性頭痛であり血圧上昇と併せて評価する。②穿刺部の増強する疼痛は血腫・後腹膜出血を疑う所見。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①夜間も症状変化を見逃さないための観察。②造影剤腎症の早期指標として尿量を確認する。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①起立性低血圧は離床開始時の主要リスク。②造影後72時間以内の腎機能評価でCINを検出する。③抗血小板薬の中断はステント内血栓症の直接的リスクとなる。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①病棟内歩行の自立が退院可否の指標の一つ。②抗血小板薬の自己中断禁止・脳卒中症状・穿刺部異常を退院前に必ず確認する。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763804"/>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2752259"/>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469273"/>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186287"/>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4903301"/>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620315"/>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337329"/>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054343"/>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136693"/>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パス02　脳血管造影・前日入院・上肢アクセス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入院前〜検査当日</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入院日(前日)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検査前(当日朝)</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検査中〜直後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49301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アレルギー歴</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休薬指示(抗血栓薬・ビグアナイド薬)の伝達</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意識・神経所見のベースライン記録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穿刺肢(橈骨動脈触知・手指の色調)のベースライン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血圧(両上肢)・脈拍・体温・SpO2</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絶食・排尿確認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検査直前の神経所見再確認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造影剤反応(即時型)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迷走神経反射</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術者による神経学的確認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6135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血算・凝固・生化学(eGFR)</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未実施項目の採血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CIN予防補液(該当例)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脳血管造影(DSA)</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69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通院手段の確認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家庭環境の確認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69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69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入浴(穿刺予定部の清潔)</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69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検査前排尿</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69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常用食(絶食開始時刻を指示)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69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35264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①造影剤使用前に腎機能・アレルギー歴を評価する。②休薬指示を確実に伝達し当日の混乱を防ぐ。</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①検査後の変化を判定する基準としてベースライン記録が必須。②橈骨動脈の触知は上肢アクセス特有の合併症(閉塞・血流障害)の早期発見に直結する。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①検査中の体動・呼吸停止への協力を確実にするための最終確認。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①塞栓性脳梗塞は検査中に生じうるため神経学的確認が必須。②迷走神経反射は穿刺・圧迫解除時に起こりやすい。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880364"/>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057550"/>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823200"/>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493143"/>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163087"/>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833030"/>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502973"/>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172917"/>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184212"/>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パス02　脳血管造影・前日入院・上肢アクセス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帰室後〜退院</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帰室時〜6時間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当日夜間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翌朝</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78018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手指の色調・冷感・しびれ・運動、橈骨動脈触知(上肢アクセス特有)</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前腕の緊満・激痛(コンパートメント症候群)</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穿刺部の出血・血腫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夜間の神経症状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しびれの有無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尿量</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橈骨動脈触知の最終確認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造影後の腎機能</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歩行状態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退院基準の最終確認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穿刺部の再確認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医師指示により採血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血清Cr(造影後72時間以内)</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検査結果説明日の確定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再開薬の説明、次回外来確定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穿刺肢の安静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穿刺肢の安静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シャワー(許可後)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医師指示により食事開始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593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33121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①橈骨動脈閉塞・コンパートメント症候群は上肢アクセスに特有の重篤合併症で早期発見が必須。②穿刺部出血は左右比較・マーキングで経時観察する。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①夜間も血流障害・神経症状を見逃さない。②造影剤腎症の指標として尿量を確認。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①退院前に橈骨動脈触知を必ず記録し血流障害の見落としを防ぐ。②造影後72時間以内の腎機能評価でCINを検出。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①休薬した薬剤の再開時期・穿刺肢の使用制限・遅発型造影剤反応を退院前に必ず説明する。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023947"/>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243701"/>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90302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562354"/>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221681"/>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881008"/>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540334"/>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199661"/>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194930"/>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パス03　脳血管造影・前日入院・鼠径アクセス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入院前〜検査当日</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入院日(前日)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検査前(当日朝)</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検査中〜直後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54930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アレルギー歴</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休薬指示の伝達</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床上安静・床上排泄の事前説明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意識・神経所見のベースライン記録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大腿動脈・下肢末梢動脈のベースライン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Hbのベースライン取得</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血圧・脈拍のベースライン</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絶食・排尿確認(検査前に必ず排尿)</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検査直前の神経所見再確認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造影剤反応</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迷走神経反射</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術者による神経学的確認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938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血算(Hb)・凝固・生化学(eGFR)</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未実施項目の採血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CIN予防補液(該当例)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脳血管造影(DSA)</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通院手段の確認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家庭環境の確認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入浴(鼠径部の清潔)</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検査前に排尿</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常用食(絶食開始時刻を指示)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11232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①造影剤使用前に腎機能・アレルギー歴を評価。②検査後は長時間の床上安静を要するため事前に方法を説明し当日の混乱を防ぐ。</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①後腹膜出血の判定にはHbのベースラインが必須。②大腿動脈・下肢末梢動脈の触知は下肢虚血の早期発見に直結する。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①検査前の排尿を済ませることで長時間の床上安静中の排泄困難を防ぐ。</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①塞栓性脳梗塞は検査中に生じうる。②迷走神経反射は穿刺・圧迫解除時に起こりやすい。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08510"/>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130081"/>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92459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619800"/>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315003"/>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6010205"/>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705408"/>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400611"/>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304374"/>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パス03　脳血管造影・前日入院・鼠径アクセス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帰室後〜退院</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帰室時〜6時間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当日夜間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安静解除〜翌朝</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5309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腰背部痛・腹部膨満・原因不明の血圧低下(後腹膜出血)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足背/後脛骨動脈触知、下肢の色調・冷感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穿刺部の出血・血腫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夜間の腰背部痛</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排尿の有無(尿閉に注意)</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尿量</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歩行後の穿刺部再出血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拍動性腫瘤・血管雑音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造影後の腎機能</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退院基準の最終確認(歩行後の再出血なし)</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腰背部痛・バイタルの最終評価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医師指示により採血(Hb)</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血清Cr(造影後72時間以内)</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検査結果説明日の確定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再開薬の説明、次回外来確定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床上安静・穿刺肢伸展保持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安静解除(条件充足時)→離床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シャワー(許可後)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床上排泄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床上排泄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トイレ歩行(離床後)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医師指示により食事開始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869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端座位→立位→歩行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38700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①後腹膜出血は穿刺部の外表所見に乏しいまま進行しうるため血圧・脈拍・腰背部痛を必ずセットで評価する。②下肢虚血の早期発見のため末梢動脈を左右比較する。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①夜間も後腹膜出血・脱水を見逃さない。②床上排泄は尿閉を生じやすいため排尿の有無を確認する。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①歩行後の穿刺部再出血確認を退院要件に含める。②造影後72時間以内の腎機能評価でCINを検出。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①退院直前の腰背部痛・バイタル再評価により後腹膜出血の遅発性顕在化に備える。②休薬薬剤の再開時期を必ず説明する。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899327"/>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008279"/>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695241"/>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382202"/>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069163"/>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756125"/>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443086"/>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130048"/>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167032"/>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パス04　脳血管造影・当日入院・上肢アクセス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外来完了チェック〜検査当日</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入院前外来(F0完了確認)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入院日(検査前)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検査中〜直後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54930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血液検査・eGFRを外来で完了</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休薬指示(抗血栓薬・ビグアナイド薬)の説明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穿刺予定肢の触知評価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支援環境・帰宅手段の確認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休薬・絶食の実施を実確認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穿刺肢のベースライン(橈骨動脈・手指色調)</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意識・神経所見のベースライン記録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造影剤反応</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迷走神経反射</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術者による神経学的確認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血算・凝固・生化学(eGFR)を外来で完了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外来結果の確認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脳血管造影(DSA)</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938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CIN予防補液を要する例はパス02(前日入院)へ振り分け</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検査前排尿</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絶食開始時刻の指示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絶食(指示どおりか確認)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11232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①当日入院では入院日に評価不足を補完する時間がない。②eGFR&lt;30等CIN予防対象例は6時間前補液を要するため当日入院に適さず前日入院へ振り分ける。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①外来指示のまま未確認になりやすいため入院時に実薬・最終服用時刻を確認する。②検査後の判定基準としてベースライン記録が必須。</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①塞栓性脳梗塞・造影剤アレルギーの早期発見。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08510"/>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030766"/>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825283"/>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619800"/>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315003"/>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6010205"/>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705408"/>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400611"/>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304374"/>
            <a:ext cx="31089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パス04　脳血管造影・当日入院・上肢アクセス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帰室後〜退院判断</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帰室時〜6時間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離床後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退院判断時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32796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手指の色調・冷感・しびれ、橈骨動脈触知</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前腕の緊満・激痛(コンパートメント症候群)</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起立時症状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穿刺部の再出血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橈骨動脈触知の再確認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退院基準(G1-G14)の全項目チェック</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橈骨動脈触知の最終確認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医師指示により採血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7168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帰宅手段の確認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24時間連絡先、造影後72時間以内の腎機能評価を外来で計画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穿刺肢の安静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歩行可(医師指示後)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制限なし(穿刺肢の使用制限は継続)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トイレ歩行(許可後)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医師指示により食事開始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病棟内歩行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9250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①橈骨動脈閉塞・コンパートメント症候群は上肢アクセス特有の重篤合併症。</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①短期滞在では橈骨動脈閉塞が未検出のまま退院しうるため退院前の記録を必須化する。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①退院可否は時刻でなく条件充足で判断する。②遅発型造影剤反応・穿刺肢使用制限・再開薬を退院前に必ず説明する。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797839"/>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2839700"/>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70341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567136"/>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322890"/>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6078643"/>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834397"/>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590150"/>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414282"/>
            <a:ext cx="31089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パス05　脳血管造影・当日入院・鼠径アクセス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外来完了チェック〜検査当日</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入院前外来(F0完了確認)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入院日(検査前)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検査中〜直後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54930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血液検査・Hb・eGFRを外来で完了</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床上安静・床上排泄の事前説明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大腿動脈・下肢末梢動脈の触知評価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支援環境・帰宅手段の確認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休薬・絶食の実施を実確認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鼠径部・下肢末梢動脈のベースライン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意識・神経所見のベースライン記録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造影剤反応</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迷走神経反射</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術者による神経学的確認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血算(Hb)・凝固・生化学(eGFR)を外来で完了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外来結果の確認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脳血管造影(DSA)</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938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CIN予防補液を要する例はパス03(前日入院)へ振り分け</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検査前に排尿</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絶食開始時刻の指示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絶食(指示どおりか確認)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9520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11232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①当日入院＋鼠径アクセスは在院時間の制約が最も強い組み合わせ。②CIN予防補液を要する例は前日入院(パス03)へ振り分ける。③床上安静保持能力を事前評価する。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①後腹膜出血の判定にはHbのベースラインが必須。②下肢虚血の早期発見のため末梢動脈を記録する。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①塞栓性脳梗塞・造影剤アレルギーの早期発見。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08510"/>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030766"/>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825283"/>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619800"/>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315003"/>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6010205"/>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705408"/>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400611"/>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304374"/>
            <a:ext cx="31089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パス05　脳血管造影・当日入院・鼠径アクセス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帰室後〜退院判断</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帰室時〜6時間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安静解除・離床後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退院判断時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32796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腰背部痛・腹部膨満・原因不明の血圧低下(後腹膜出血)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足背/後脛骨動脈触知、下肢の色調</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歩行後の穿刺部再出血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拍動性腫瘤・血管雑音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自排尿の有無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退院基準(G1-G15)の全項目チェック</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穿刺部・下肢・腰背部痛の最終評価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医師指示により採血(Hb)</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7168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帰宅手段の確認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24時間連絡先、造影後72時間以内の腎機能評価を外来で計画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床上安静・穿刺肢伸展保持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安静解除→端座位→立位→歩行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床上排泄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解除後はトイレ歩行可</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医師指示により食事開始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5575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段階的離床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9250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①後腹膜出血は外表所見に乏しいまま進行しうるため血圧・脈拍・腰背部痛を必ずセットで評価する。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①歩行後の穿刺部再出血確認を退院要件に含める。②床上排泄は尿閉を生じやすい。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①退院可否は在院時間でなく条件充足で判断する。②退院直前の腰背部痛・バイタル再評価で後腹膜出血の遅発性顕在化に備える。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797839"/>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2839700"/>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70341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567136"/>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322890"/>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6078643"/>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834397"/>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7590150"/>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8414282"/>
            <a:ext cx="31089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パス06　未破裂脳動脈瘤・血管内治療（コイル塞栓術）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1〜4日目</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1日目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入院日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2日目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治療当日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3日目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第1病日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4日目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第2病日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94744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既往歴・アレルギー確認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ビグアナイド系薬の有無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ヨード造影剤アレルギー・喘息の有無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腎機能(Cre/eGFR)</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内服薬確認(抗血小板薬等)</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NIHSS・麻痺・瞳孔・脳神経所見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嚥下・ADL・転倒転落評価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意思決定支援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同意内容・不安の観察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ADLの支援</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自己抜去・転倒転落予防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心電図モニター観察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動脈ライン管理</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嚥下機能観察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神経症状(意識・麻痺・瞳孔不同)</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穿刺部観察(出血・血腫)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安静解除時の転倒評価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心電図モニター観察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動脈ライン管理</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嚥下機能観察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穿刺部観察の継続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足背動脈触知・末梢循環</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安静解除時の転倒評価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心電図モニター観察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脳卒中再発予防の生活指導開始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栄養指導の必要性確認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服薬指導の必要性確認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5486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入院診療計画書の確認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コイル塞栓術の同意書</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一般検査(採血・胸部X線・心電図)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脳血管造影チェックリスト確認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コイル塞栓術</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頭部CT</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一般採血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必要時に追加検査・治療</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0857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訪問看護・介護保険利用時は入退院連携シートで退院支援課と調整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自宅退院に向けた課題確認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47333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ベッド上安静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棟内歩行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47333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清拭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清拭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状態によりシャワー可</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47333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膀胱内留置カテーテル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カテーテル抜去後トイレ可</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47333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医師の指示の食事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禁食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医師の指示の食事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医師の指示の食事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47333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必要に応じて介入</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ベッド上安静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歩行練習</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必要時介入・活動拡大</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74909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破裂リスク(高血圧・喫煙・過度の飲酒)を把握し破裂予防の生活指導につなげる。②ビグアナイド系薬は造影剤使用時に腎機能障害リスクがあるため休薬指示を確認。③ヨード造影剤アレルギー・喘息・腎機能により前投薬・輸液・検査延期を判断。④術前の神経学的所見を把握し、術後変化を早期発見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治療への不安を軽減し安全に受けられるよう支援。②点滴・膀胱留置カテーテル・Aライン・モニター装着で安静保持のためADL援助を要する。③造影剤副作用・血栓塞栓性合併症・出血性ショックなど全身状態を観察。④脳梗塞の可能性があるため神経症状を観察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安静解除時は低血圧・ふらつき・起立性変化が起こりやすく転倒転落に注意。②治療後も造影剤副作用・血栓塞栓性合併症・出血性合併症の可能性があるため観察を継続。③脳梗塞の可能性があるため意識・麻痺・瞳孔不同・嚥下障害等の神経症状を観察。④穿刺部出血・血腫・末梢循環障害を継続観察。⑤術後安静に伴うDVT予防を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ADL拡大に伴いふらつき・転倒・血圧変動の可能性があり安全性を評価。②治療後も血栓塞栓性・出血性合併症の可能性があり症状観察を継続。③抗血小板薬継続時は出血性合併症の恐れがあるため内服継続と出血症状を指導。④未破裂脳動脈瘤の破裂予防には血圧管理・禁煙・節酒などの生活習慣管理が重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107580"/>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608738"/>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440460"/>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981418"/>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454756"/>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928094"/>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401432"/>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6874770"/>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7985988"/>
            <a:ext cx="31089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パス06　未破裂脳動脈瘤・血管内治療（コイル塞栓術）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5〜7日目</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5日目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第3病日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6日目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第4病日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7日目</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退院日</a:t>
                      </a:r>
                      <a:endParaRPr lang="en-US" sz="1100" dirty="0">
                        <a:latin typeface="Meiryo" charset="0"/>
                        <a:ea typeface="Meiryo" charset="0"/>
                        <a:cs typeface="Meiryo" charset="0"/>
                      </a:endParaRPr>
                    </a:p>
                    <a:p>
                      <a:pPr algn="ctr" indent="0" marL="0">
                        <a:buNone/>
                      </a:pPr>
                      <a:r>
                        <a:rPr lang="en-US" sz="1100" b="1" dirty="0">
                          <a:solidFill>
                            <a:srgbClr val="FFFFFF"/>
                          </a:solidFill>
                          <a:latin typeface="Meiryo" pitchFamily="34" charset="0"/>
                          <a:ea typeface="Meiryo" pitchFamily="34" charset="-122"/>
                          <a:cs typeface="Meiryo" pitchFamily="34" charset="-120"/>
                        </a:rPr>
                        <a:t>(1日間)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69721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ADL支援</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脳卒中再発予防の生活指導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栄養指導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抗血小板薬継続時の出血症状確認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穿刺部・皮下出血の観察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検査結果説明の理解度確認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ADL支援</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脳卒中再発予防の生活指導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栄養指導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退院後生活の確認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社会資源・介護保険利用時は退院支援課と調整</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脳外科外来看護師との情報共有</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退院指導</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内服薬について</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症状出現時の受診について</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外来受診について</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穿刺部の観察方法</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患者・家族の不安確認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68806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頭部MRI・MRAまたはCT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退院前採血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必要時画像検査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退院処方</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最終確認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806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自宅退院に向けた課題確認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訪問看護・介護保険時は入退院連携シート確認、退院支援課調整、脳外科外来看護師と情報共有</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53515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3515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シャワー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退院後は指示に従う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53515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排泄</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フリー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3515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医師の指示の食事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医師の指示の食事・減塩指導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退院後も血圧管理を意識した食事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53515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必要時に介入</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退院後生活を想定した活動</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自宅生活へ移行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97754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ADL状況に応じ自宅退院に向けて生活動作を整える。②抗血小板薬継続の場合、鼻出血・歯肉出血・血尿・黒色便・皮下出血拡大等の観察と服薬指導が必要。③高血圧・動脈硬化・脳卒中再発予防のため、減塩・禁煙・節酒・血圧管理・服薬継続について具体的に指導。④検査結果や今後の外来フォローの理解度を確認し、退院後の自己管理につなげ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自宅退院に向け、ADL・歩行状態・服薬管理・家族支援状況を確認する必要がある。②訪問看護や介護保険利用がある場合は、入退院連携シートを確認し退院支援課と調整することで安全に生活を継続できる。③脳外科外来看護師と情報共有することで外来フォロー時に穿刺部・服薬・症状出現時の対応を継続確認できる。④7日間パスでは退院までの期間が短いため、退院前日までに患者・家族の理解度と不安を確認しておく必要があ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抗血小板薬継続の場合、出血性合併症の恐れがあるため内服継続の必要性と出血症状出現時の対応を説明する。②術後の再発や再治療の可能性を確認するため、定期的な外来受診の必要性を説明する。③強い頭痛・片麻痺・しびれ・言葉の出にくさ・意識障害等が出現した場合は早期受診が必要。④穿刺部の内出血が広がる・腫脹・出血・熱感・強い痛みがある場合は外来受診の必要性を説明する。⑤退院後も血圧管理・禁煙・節酒・服薬継続を行えるよう患者・家族の理解度を確認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82466"/>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175106"/>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86316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474779"/>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009938"/>
            <a:ext cx="310896" cy="310896"/>
          </a:xfrm>
          <a:prstGeom prst="rect">
            <a:avLst/>
          </a:prstGeom>
        </p:spPr>
      </p:pic>
      <p:pic>
        <p:nvPicPr>
          <p:cNvPr id="11" name="Image 5" descr="/tmp/claude-0/-home-user-SD-/6071e542-76be-5aaa-a13b-481d427eef5d/scratchpad/pathway-pptx/icons/toilet.png">    </p:cNvPr>
          <p:cNvPicPr>
            <a:picLocks noChangeAspect="1"/>
          </p:cNvPicPr>
          <p:nvPr/>
        </p:nvPicPr>
        <p:blipFill>
          <a:blip r:embed="rId6"/>
          <a:stretch>
            <a:fillRect/>
          </a:stretch>
        </p:blipFill>
        <p:spPr>
          <a:xfrm>
            <a:off x="283464" y="5545097"/>
            <a:ext cx="310896" cy="310896"/>
          </a:xfrm>
          <a:prstGeom prst="rect">
            <a:avLst/>
          </a:prstGeom>
        </p:spPr>
      </p:pic>
      <p:pic>
        <p:nvPicPr>
          <p:cNvPr id="12" name="Image 6" descr="/tmp/claude-0/-home-user-SD-/6071e542-76be-5aaa-a13b-481d427eef5d/scratchpad/pathway-pptx/icons/meal.png">    </p:cNvPr>
          <p:cNvPicPr>
            <a:picLocks noChangeAspect="1"/>
          </p:cNvPicPr>
          <p:nvPr/>
        </p:nvPicPr>
        <p:blipFill>
          <a:blip r:embed="rId7"/>
          <a:stretch>
            <a:fillRect/>
          </a:stretch>
        </p:blipFill>
        <p:spPr>
          <a:xfrm>
            <a:off x="283464" y="6080256"/>
            <a:ext cx="310896" cy="310896"/>
          </a:xfrm>
          <a:prstGeom prst="rect">
            <a:avLst/>
          </a:prstGeom>
        </p:spPr>
      </p:pic>
      <p:pic>
        <p:nvPicPr>
          <p:cNvPr id="13" name="Image 7" descr="/tmp/claude-0/-home-user-SD-/6071e542-76be-5aaa-a13b-481d427eef5d/scratchpad/pathway-pptx/icons/rehab.png">    </p:cNvPr>
          <p:cNvPicPr>
            <a:picLocks noChangeAspect="1"/>
          </p:cNvPicPr>
          <p:nvPr/>
        </p:nvPicPr>
        <p:blipFill>
          <a:blip r:embed="rId8"/>
          <a:stretch>
            <a:fillRect/>
          </a:stretch>
        </p:blipFill>
        <p:spPr>
          <a:xfrm>
            <a:off x="283464" y="6615416"/>
            <a:ext cx="310896" cy="310896"/>
          </a:xfrm>
          <a:prstGeom prst="rect">
            <a:avLst/>
          </a:prstGeom>
        </p:spPr>
      </p:pic>
      <p:pic>
        <p:nvPicPr>
          <p:cNvPr id="14" name="Image 8" descr="/tmp/claude-0/-home-user-SD-/6071e542-76be-5aaa-a13b-481d427eef5d/scratchpad/pathway-pptx/icons/reason.png">    </p:cNvPr>
          <p:cNvPicPr>
            <a:picLocks noChangeAspect="1"/>
          </p:cNvPicPr>
          <p:nvPr/>
        </p:nvPicPr>
        <p:blipFill>
          <a:blip r:embed="rId9"/>
          <a:stretch>
            <a:fillRect/>
          </a:stretch>
        </p:blipFill>
        <p:spPr>
          <a:xfrm>
            <a:off x="283464" y="7871766"/>
            <a:ext cx="310896"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パス07　未破裂脳動脈瘤・開頭クリッピング術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1/3ページ　入院前〜術直後</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術前(当日)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術直後(帰室時)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70248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適応判断3要素の記録確認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抗血栓薬休薬指示</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麻酔科診察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意識・脳神経を含む神経所見のベースライン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頭痛のベースライン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血清ナトリウムのベースライン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感染巣の確認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絶食・除毛・弾性ストッキング</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術直前の神経所見再確認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意識・瞳孔対光反射(最も鋭敏な指標)</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麻痺・構音・失語・複視</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ドレーン排液の量・性状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創部の出血・腫脹</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98220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血算・凝固・生化学・血液型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未実施項目の採血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胸部X線・心電図</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術後CT(施設方針による)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6393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就労状況・支援者の確認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家庭環境の確認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6393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臥床(頭部挙上は医師指示)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6393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洗髪・入浴(術前)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6393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常用食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6393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術前リハ評価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2230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①予防的治療であるため適応判断3要素(背景・自然歴・施設成績)の記録を必須化する。②開頭・全身麻酔のリスク評価が前提となる。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①術後変化を判定する基準としてベースライン記録が必須。②開頭術後は低ナトリウム血症を生じうるため電解質のベースラインが重要。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①術中出血・感染予防のため術前処置を確実に実施する。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①意識・瞳孔は術後出血・脳ヘルニアの最も鋭敏な指標。②ドレーン排液の急増・鮮血化は術後出血を疑う。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85100"/>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327447"/>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200519"/>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964456"/>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728393"/>
            <a:ext cx="310896" cy="310896"/>
          </a:xfrm>
          <a:prstGeom prst="rect">
            <a:avLst/>
          </a:prstGeom>
        </p:spPr>
      </p:pic>
      <p:pic>
        <p:nvPicPr>
          <p:cNvPr id="11" name="Image 5" descr="/tmp/claude-0/-home-user-SD-/6071e542-76be-5aaa-a13b-481d427eef5d/scratchpad/pathway-pptx/icons/meal.png">    </p:cNvPr>
          <p:cNvPicPr>
            <a:picLocks noChangeAspect="1"/>
          </p:cNvPicPr>
          <p:nvPr/>
        </p:nvPicPr>
        <p:blipFill>
          <a:blip r:embed="rId6"/>
          <a:stretch>
            <a:fillRect/>
          </a:stretch>
        </p:blipFill>
        <p:spPr>
          <a:xfrm>
            <a:off x="283464" y="6492330"/>
            <a:ext cx="310896" cy="310896"/>
          </a:xfrm>
          <a:prstGeom prst="rect">
            <a:avLst/>
          </a:prstGeom>
        </p:spPr>
      </p:pic>
      <p:pic>
        <p:nvPicPr>
          <p:cNvPr id="12" name="Image 6" descr="/tmp/claude-0/-home-user-SD-/6071e542-76be-5aaa-a13b-481d427eef5d/scratchpad/pathway-pptx/icons/rehab.png">    </p:cNvPr>
          <p:cNvPicPr>
            <a:picLocks noChangeAspect="1"/>
          </p:cNvPicPr>
          <p:nvPr/>
        </p:nvPicPr>
        <p:blipFill>
          <a:blip r:embed="rId7"/>
          <a:stretch>
            <a:fillRect/>
          </a:stretch>
        </p:blipFill>
        <p:spPr>
          <a:xfrm>
            <a:off x="283464" y="7256268"/>
            <a:ext cx="310896" cy="310896"/>
          </a:xfrm>
          <a:prstGeom prst="rect">
            <a:avLst/>
          </a:prstGeom>
        </p:spPr>
      </p:pic>
      <p:pic>
        <p:nvPicPr>
          <p:cNvPr id="13" name="Image 7" descr="/tmp/claude-0/-home-user-SD-/6071e542-76be-5aaa-a13b-481d427eef5d/scratchpad/pathway-pptx/icons/reason.png">    </p:cNvPr>
          <p:cNvPicPr>
            <a:picLocks noChangeAspect="1"/>
          </p:cNvPicPr>
          <p:nvPr/>
        </p:nvPicPr>
        <p:blipFill>
          <a:blip r:embed="rId8"/>
          <a:stretch>
            <a:fillRect/>
          </a:stretch>
        </p:blipFill>
        <p:spPr>
          <a:xfrm>
            <a:off x="283464" y="8249386"/>
            <a:ext cx="310896"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パス07　未破裂脳動脈瘤・開頭クリッピング術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2/3ページ　POD1〜3</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POD1</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POD2</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POD3</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51899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離床時の症状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ドレーン管理</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悪心</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創部</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発熱の有無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歩行時のふらつき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意識レベル(脳浮腫のピーク時期)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髄液漏の有無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発熱</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6446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血算・生化学(血清ナトリウム)</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血算・生化学(血清ナトリウム)</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6446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退院後の支援を検討開始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回復期リハ・施設の情報提供</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転院・在宅の方向性を検討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6446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離床開始(N-1条件充足時)</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6446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清拭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清拭・部分浴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清拭・部分浴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6446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意識清明・嚥下確認後に開始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常食(嚥下に問題なければ)</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6446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PT/OT介入(医師指示)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02089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①離床は意識・瞳孔・頭痛・ドレーン排液の条件を満たしてから開始する。②術後けいれんの初期対応の準備も重要。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①POD2以降の発熱は創部感染・肺炎・尿路感染の鑑別対象。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①脳浮腫のピーク時期(術後24〜72時間)は意識レベルを重点観察する。②髄液漏は水様透明な漏出・皮下貯留として現れる。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893351"/>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085079"/>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3949545"/>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814012"/>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678478"/>
            <a:ext cx="310896" cy="310896"/>
          </a:xfrm>
          <a:prstGeom prst="rect">
            <a:avLst/>
          </a:prstGeom>
        </p:spPr>
      </p:pic>
      <p:pic>
        <p:nvPicPr>
          <p:cNvPr id="11" name="Image 5" descr="/tmp/claude-0/-home-user-SD-/6071e542-76be-5aaa-a13b-481d427eef5d/scratchpad/pathway-pptx/icons/meal.png">    </p:cNvPr>
          <p:cNvPicPr>
            <a:picLocks noChangeAspect="1"/>
          </p:cNvPicPr>
          <p:nvPr/>
        </p:nvPicPr>
        <p:blipFill>
          <a:blip r:embed="rId6"/>
          <a:stretch>
            <a:fillRect/>
          </a:stretch>
        </p:blipFill>
        <p:spPr>
          <a:xfrm>
            <a:off x="283464" y="6542944"/>
            <a:ext cx="310896" cy="310896"/>
          </a:xfrm>
          <a:prstGeom prst="rect">
            <a:avLst/>
          </a:prstGeom>
        </p:spPr>
      </p:pic>
      <p:pic>
        <p:nvPicPr>
          <p:cNvPr id="12" name="Image 6" descr="/tmp/claude-0/-home-user-SD-/6071e542-76be-5aaa-a13b-481d427eef5d/scratchpad/pathway-pptx/icons/rehab.png">    </p:cNvPr>
          <p:cNvPicPr>
            <a:picLocks noChangeAspect="1"/>
          </p:cNvPicPr>
          <p:nvPr/>
        </p:nvPicPr>
        <p:blipFill>
          <a:blip r:embed="rId7"/>
          <a:stretch>
            <a:fillRect/>
          </a:stretch>
        </p:blipFill>
        <p:spPr>
          <a:xfrm>
            <a:off x="283464" y="7407410"/>
            <a:ext cx="310896" cy="310896"/>
          </a:xfrm>
          <a:prstGeom prst="rect">
            <a:avLst/>
          </a:prstGeom>
        </p:spPr>
      </p:pic>
      <p:pic>
        <p:nvPicPr>
          <p:cNvPr id="13" name="Image 7" descr="/tmp/claude-0/-home-user-SD-/6071e542-76be-5aaa-a13b-481d427eef5d/scratchpad/pathway-pptx/icons/reason.png">    </p:cNvPr>
          <p:cNvPicPr>
            <a:picLocks noChangeAspect="1"/>
          </p:cNvPicPr>
          <p:nvPr/>
        </p:nvPicPr>
        <p:blipFill>
          <a:blip r:embed="rId8"/>
          <a:stretch>
            <a:fillRect/>
          </a:stretch>
        </p:blipFill>
        <p:spPr>
          <a:xfrm>
            <a:off x="283464" y="8350089"/>
            <a:ext cx="310896"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パス07　未破裂脳動脈瘤・開頭クリッピング術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3/3ページ　POD4〜退院</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POD4〜7</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抜糸・退院前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退院／転院時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75198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創部(感染徴候)</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髄液漏</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皮下貯留</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血清ナトリウム</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創部の治癒状況</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教育理解度</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生活上の注意(運転・入浴・就労)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最終確認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861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血算・CRP・生化学(血清ナトリウム)</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医師指示による退院時画像計画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861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退院先の確定、社会資源の調整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次回外来・画像予約の確定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退院サマリ・紹介状・リハビリサマリ</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861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ADL拡大・転倒予防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入院前レベルを目標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退院可能レベル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861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清潔</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洗髪の可否は医師指示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洗髪・シャワー(医師許可後)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861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食形態の調整(開口障害があれば)</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7861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退院後の継続を判断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継続の要否を判断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578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①創部感染・髄液漏・低ナトリウム血症は開頭術後の遅発性合併症として重要。②便秘による努責は頭蓋内圧を上昇させるため排便管理も行う。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①けいれん時の対応・運転再開の可否は主治医が個別に判断し記録する。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①ADLが退院可能レベルに達しない場合は回復期リハビリ病棟等への転院を計画的バリアンスとして扱う。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009846"/>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278908"/>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065053"/>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4851198"/>
            <a:ext cx="310896" cy="310896"/>
          </a:xfrm>
          <a:prstGeom prst="rect">
            <a:avLst/>
          </a:prstGeom>
        </p:spPr>
      </p:pic>
      <p:pic>
        <p:nvPicPr>
          <p:cNvPr id="10" name="Image 4" descr="/tmp/claude-0/-home-user-SD-/6071e542-76be-5aaa-a13b-481d427eef5d/scratchpad/pathway-pptx/icons/clean.png">    </p:cNvPr>
          <p:cNvPicPr>
            <a:picLocks noChangeAspect="1"/>
          </p:cNvPicPr>
          <p:nvPr/>
        </p:nvPicPr>
        <p:blipFill>
          <a:blip r:embed="rId5"/>
          <a:stretch>
            <a:fillRect/>
          </a:stretch>
        </p:blipFill>
        <p:spPr>
          <a:xfrm>
            <a:off x="283464" y="5637342"/>
            <a:ext cx="310896" cy="310896"/>
          </a:xfrm>
          <a:prstGeom prst="rect">
            <a:avLst/>
          </a:prstGeom>
        </p:spPr>
      </p:pic>
      <p:pic>
        <p:nvPicPr>
          <p:cNvPr id="11" name="Image 5" descr="/tmp/claude-0/-home-user-SD-/6071e542-76be-5aaa-a13b-481d427eef5d/scratchpad/pathway-pptx/icons/meal.png">    </p:cNvPr>
          <p:cNvPicPr>
            <a:picLocks noChangeAspect="1"/>
          </p:cNvPicPr>
          <p:nvPr/>
        </p:nvPicPr>
        <p:blipFill>
          <a:blip r:embed="rId6"/>
          <a:stretch>
            <a:fillRect/>
          </a:stretch>
        </p:blipFill>
        <p:spPr>
          <a:xfrm>
            <a:off x="283464" y="6423487"/>
            <a:ext cx="310896" cy="310896"/>
          </a:xfrm>
          <a:prstGeom prst="rect">
            <a:avLst/>
          </a:prstGeom>
        </p:spPr>
      </p:pic>
      <p:pic>
        <p:nvPicPr>
          <p:cNvPr id="12" name="Image 6" descr="/tmp/claude-0/-home-user-SD-/6071e542-76be-5aaa-a13b-481d427eef5d/scratchpad/pathway-pptx/icons/rehab.png">    </p:cNvPr>
          <p:cNvPicPr>
            <a:picLocks noChangeAspect="1"/>
          </p:cNvPicPr>
          <p:nvPr/>
        </p:nvPicPr>
        <p:blipFill>
          <a:blip r:embed="rId7"/>
          <a:stretch>
            <a:fillRect/>
          </a:stretch>
        </p:blipFill>
        <p:spPr>
          <a:xfrm>
            <a:off x="283464" y="7209632"/>
            <a:ext cx="310896" cy="310896"/>
          </a:xfrm>
          <a:prstGeom prst="rect">
            <a:avLst/>
          </a:prstGeom>
        </p:spPr>
      </p:pic>
      <p:pic>
        <p:nvPicPr>
          <p:cNvPr id="13" name="Image 7" descr="/tmp/claude-0/-home-user-SD-/6071e542-76be-5aaa-a13b-481d427eef5d/scratchpad/pathway-pptx/icons/reason.png">    </p:cNvPr>
          <p:cNvPicPr>
            <a:picLocks noChangeAspect="1"/>
          </p:cNvPicPr>
          <p:nvPr/>
        </p:nvPicPr>
        <p:blipFill>
          <a:blip r:embed="rId8"/>
          <a:stretch>
            <a:fillRect/>
          </a:stretch>
        </p:blipFill>
        <p:spPr>
          <a:xfrm>
            <a:off x="283464" y="8231620"/>
            <a:ext cx="310896"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パス08　脳血管造影（脳神経内科）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入院前〜検査当日</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入院前外来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検査前(当日)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検査中〜直後</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01790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抗血栓薬の休薬／継続方針の伝達</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アレルギー歴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既存所見を含む神経所見の具体的記録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NIHSSベースライン(必須)</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アクセス肢のベースライン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抗血栓薬の実際の服薬状況を実確認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絶食・排尿確認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検査直前の神経所見再確認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意識・瞳孔・麻痺・構音・失語(既存所見と1項目ずつ対比)</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造影剤反応</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迷走神経反射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16417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血算・凝固・生化学(eGFR)・血糖・HbA1c</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未実施項目の採血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脳血管造影(DSA)</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0547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通院手段の確認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90547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入院前レベル(転倒予防)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制限なし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0547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既存の食形態を維持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絶食</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82818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①非侵襲的画像で診断が確定しない病態(脳梗塞・TIAの病因検索、動脈解離、もやもや病、血管炎等)を評価する。②休薬方針は原疾患の再発リスクとの個別衡量である。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①既存の脳梗塞後遺症がある患者では「新規」か「既存症状の変動」かの判別が難しく、NIHSS・詳細所見の記録が決定的に重要。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①検査直前の再確認で当日の状態変化を捉える。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①既存の麻痺・感覚障害がある患者ではアクセス肢の神経症状も既存所見との比較で判定する。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142809"/>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733849"/>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768673"/>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674143"/>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579613"/>
            <a:ext cx="310896" cy="310896"/>
          </a:xfrm>
          <a:prstGeom prst="rect">
            <a:avLst/>
          </a:prstGeom>
        </p:spPr>
      </p:pic>
      <p:pic>
        <p:nvPicPr>
          <p:cNvPr id="11" name="Image 5" descr="/tmp/claude-0/-home-user-SD-/6071e542-76be-5aaa-a13b-481d427eef5d/scratchpad/pathway-pptx/icons/reason.png">    </p:cNvPr>
          <p:cNvPicPr>
            <a:picLocks noChangeAspect="1"/>
          </p:cNvPicPr>
          <p:nvPr/>
        </p:nvPicPr>
        <p:blipFill>
          <a:blip r:embed="rId6"/>
          <a:stretch>
            <a:fillRect/>
          </a:stretch>
        </p:blipFill>
        <p:spPr>
          <a:xfrm>
            <a:off x="283464" y="7946442"/>
            <a:ext cx="310896" cy="3108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パス08　脳血管造影（脳神経内科）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帰室後〜退院</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帰室時〜6時間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当日夜間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翌朝</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退院時</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3852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神経所見がF2・F3と同等か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アクセス肢の血流・神経症状</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夜間の神経症状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穿刺部</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末梢動脈触知・感覚と運動</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NIHSSの再測定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神経学的所見が検査前と同等であることの記録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774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医師指示により採血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血清Cr(造影後72時間以内)</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0774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検査結果説明日の確定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今後の治療方針の共有、次回外来確定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7742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アクセス部位に応じた安静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同左</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安静解除(医師指示)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入院前レベル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38526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医師指示により食事開始(既存の食形態を維持)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常用の食形態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常用の食形態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72388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①既存症状の増悪も「変化」として扱い医師報告する。②抗血栓薬継続例では穿刺部出血に特に注意。</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①夜間も原疾患の進行・TIAの反復を見逃さない。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①NIHSS再測定で悪化がないか確認する。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①抗血栓薬の自己中断が危険であることを説明する。②検査結果に基づく今後の治療方針の見通しを共有する。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826487"/>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057830"/>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135256"/>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212681"/>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444025"/>
            <a:ext cx="310896" cy="310896"/>
          </a:xfrm>
          <a:prstGeom prst="rect">
            <a:avLst/>
          </a:prstGeom>
        </p:spPr>
      </p:pic>
      <p:pic>
        <p:nvPicPr>
          <p:cNvPr id="11" name="Image 5" descr="/tmp/claude-0/-home-user-SD-/6071e542-76be-5aaa-a13b-481d427eef5d/scratchpad/pathway-pptx/icons/reason.png">    </p:cNvPr>
          <p:cNvPicPr>
            <a:picLocks noChangeAspect="1"/>
          </p:cNvPicPr>
          <p:nvPr/>
        </p:nvPicPr>
        <p:blipFill>
          <a:blip r:embed="rId6"/>
          <a:stretch>
            <a:fillRect/>
          </a:stretch>
        </p:blipFill>
        <p:spPr>
          <a:xfrm>
            <a:off x="283464" y="7998596"/>
            <a:ext cx="310896" cy="310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パス09　急性期脳梗塞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1/3ページ　入院直後〜24時間</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入院直後(0h)</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0〜6時間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6〜24時間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Day1</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80623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発症時刻(最終健常確認時刻)の確定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NIHSS(ベースライン・必須)</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来院時血糖</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心房細動の有無(心電図)</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神経症状の進行の有無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NIHSSの再評価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血圧・血糖・体温</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嚥下スクリーニングの実施(結果に基づき摂取経路決定)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DVT予防の開始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離床時の症状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発熱</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排泄・皮膚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4206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血糖(即時)、頭部CT/MRI、心電図</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血算・凝固・生化学</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血算・生化学(医師指示)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1049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発症前ADL・キーパーソンの確認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介護保険の有無を確認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退院先の方向性を検討開始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1049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離床開始(N-1充足時)</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1049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禁食(嚥下評価前)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禁食継続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嚥下スクリーニング→結果に基づき開始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決定経路・形態で開始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81049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評価依頼</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PT/OT/ST介入</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63642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①発症4.5時間以内はrt-PA(パス13)の適応判定へ、機械的血栓回収の適応も検討する。②低血糖は脳卒中様症状の鑑別に必須。③心房細動は塞栓源として重要。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①症状進行の有無がこの時期最大の監視項目(進行性脳梗塞・再発)。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①経口摂取開始前に嚥下スクリーニングを行い、結果に基づき摂取経路・食形態・姿勢・代償法を決定する(日程起点で食事を開始しない)。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①発症後24〜48時間以内の離床が推奨されるが、AVERT IIIにより超早期・高用量離床はかえって転帰を悪化させうるため「短時間・頻回」を原則とする。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036974"/>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461123"/>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38739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197889"/>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008380"/>
            <a:ext cx="310896" cy="310896"/>
          </a:xfrm>
          <a:prstGeom prst="rect">
            <a:avLst/>
          </a:prstGeom>
        </p:spPr>
      </p:pic>
      <p:pic>
        <p:nvPicPr>
          <p:cNvPr id="11" name="Image 5" descr="/tmp/claude-0/-home-user-SD-/6071e542-76be-5aaa-a13b-481d427eef5d/scratchpad/pathway-pptx/icons/rehab.png">    </p:cNvPr>
          <p:cNvPicPr>
            <a:picLocks noChangeAspect="1"/>
          </p:cNvPicPr>
          <p:nvPr/>
        </p:nvPicPr>
        <p:blipFill>
          <a:blip r:embed="rId6"/>
          <a:stretch>
            <a:fillRect/>
          </a:stretch>
        </p:blipFill>
        <p:spPr>
          <a:xfrm>
            <a:off x="283464" y="6818871"/>
            <a:ext cx="310896" cy="310896"/>
          </a:xfrm>
          <a:prstGeom prst="rect">
            <a:avLst/>
          </a:prstGeom>
        </p:spPr>
      </p:pic>
      <p:pic>
        <p:nvPicPr>
          <p:cNvPr id="12" name="Image 6" descr="/tmp/claude-0/-home-user-SD-/6071e542-76be-5aaa-a13b-481d427eef5d/scratchpad/pathway-pptx/icons/reason.png">    </p:cNvPr>
          <p:cNvPicPr>
            <a:picLocks noChangeAspect="1"/>
          </p:cNvPicPr>
          <p:nvPr/>
        </p:nvPicPr>
        <p:blipFill>
          <a:blip r:embed="rId7"/>
          <a:stretch>
            <a:fillRect/>
          </a:stretch>
        </p:blipFill>
        <p:spPr>
          <a:xfrm>
            <a:off x="283464" y="8042326"/>
            <a:ext cx="310896" cy="3108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パス09　急性期脳梗塞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2/3ページ　Day2〜3</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4952848"/>
                <a:gridCol w="495284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Day2</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Day3</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75024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離床の進捗</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発熱・呼吸器症状</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病型に応じた治療方針の確定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意識レベル(脳浮腫のピーク時期)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嚥下・摂取状況</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合併症の有無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99607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医師指示による(発熱時は炎症反応・尿検査・胸部X線)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医師指示により頭部画像(出血性梗塞・脳浮腫の評価)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9607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家族面談、退院先の相談</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回復期リハ・施設の情報提供</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99607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離床(短時間・頻回)</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病棟内移動</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9607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摂取量・むせの評価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摂取方法の再評価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99607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9607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①離床は1回の時間を延ばすのではなく1日の回数を増やす。②発熱は誤嚥性肺炎・尿路感染を疑う。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①脳浮腫のピーク時期は意識・NIHSSを重点観察する。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008977"/>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382135"/>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37820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374281"/>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370354"/>
            <a:ext cx="310896" cy="310896"/>
          </a:xfrm>
          <a:prstGeom prst="rect">
            <a:avLst/>
          </a:prstGeom>
        </p:spPr>
      </p:pic>
      <p:pic>
        <p:nvPicPr>
          <p:cNvPr id="11" name="Image 5" descr="/tmp/claude-0/-home-user-SD-/6071e542-76be-5aaa-a13b-481d427eef5d/scratchpad/pathway-pptx/icons/rehab.png">    </p:cNvPr>
          <p:cNvPicPr>
            <a:picLocks noChangeAspect="1"/>
          </p:cNvPicPr>
          <p:nvPr/>
        </p:nvPicPr>
        <p:blipFill>
          <a:blip r:embed="rId6"/>
          <a:stretch>
            <a:fillRect/>
          </a:stretch>
        </p:blipFill>
        <p:spPr>
          <a:xfrm>
            <a:off x="283464" y="7366427"/>
            <a:ext cx="310896" cy="310896"/>
          </a:xfrm>
          <a:prstGeom prst="rect">
            <a:avLst/>
          </a:prstGeom>
        </p:spPr>
      </p:pic>
      <p:pic>
        <p:nvPicPr>
          <p:cNvPr id="12" name="Image 6" descr="/tmp/claude-0/-home-user-SD-/6071e542-76be-5aaa-a13b-481d427eef5d/scratchpad/pathway-pptx/icons/reason.png">    </p:cNvPr>
          <p:cNvPicPr>
            <a:picLocks noChangeAspect="1"/>
          </p:cNvPicPr>
          <p:nvPr/>
        </p:nvPicPr>
        <p:blipFill>
          <a:blip r:embed="rId7"/>
          <a:stretch>
            <a:fillRect/>
          </a:stretch>
        </p:blipFill>
        <p:spPr>
          <a:xfrm>
            <a:off x="283464" y="8362500"/>
            <a:ext cx="310896" cy="3108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パス09　急性期脳梗塞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3/3ページ　Day4〜退院</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4952848"/>
                <a:gridCol w="495284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Day4〜7</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退院／転院前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33048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ADL・摂取量・排泄・皮膚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気分・意欲(脳卒中後うつ)</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教育理解度</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退院先の準備状況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3482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危険因子の評価(脂質・HbA1c)</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退院時NIHSS・mRSの記録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03482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退院先の確定、社会資源の調整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退院サマリ・紹介状・リハビリサマリ</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3482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ADL拡大、転倒予防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退院先で生活可能なレベル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03482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食形態の調整、摂取量の確保</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確定した方法</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3482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リハビリ</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継続の要否を判断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2207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①再発予防薬・危険因子管理の教育を本格化する。②半側空間無視・病識低下・失調は転倒の主要リスク因子。</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①「発症時刻を確認して救急要請」を本人・家族が説明できることを退院要件とする。②ADL未達は離脱でなく回復期リハへの計画的移行として扱う。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799099"/>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2981755"/>
            <a:ext cx="310896" cy="310896"/>
          </a:xfrm>
          <a:prstGeom prst="rect">
            <a:avLst/>
          </a:prstGeom>
        </p:spPr>
      </p:pic>
      <p:pic>
        <p:nvPicPr>
          <p:cNvPr id="8" name="Image 2" descr="/tmp/claude-0/-home-user-SD-/6071e542-76be-5aaa-a13b-481d427eef5d/scratchpad/pathway-pptx/icons/discharge.png">    </p:cNvPr>
          <p:cNvPicPr>
            <a:picLocks noChangeAspect="1"/>
          </p:cNvPicPr>
          <p:nvPr/>
        </p:nvPicPr>
        <p:blipFill>
          <a:blip r:embed="rId3"/>
          <a:stretch>
            <a:fillRect/>
          </a:stretch>
        </p:blipFill>
        <p:spPr>
          <a:xfrm>
            <a:off x="283464" y="4016578"/>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051401"/>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086224"/>
            <a:ext cx="310896" cy="310896"/>
          </a:xfrm>
          <a:prstGeom prst="rect">
            <a:avLst/>
          </a:prstGeom>
        </p:spPr>
      </p:pic>
      <p:pic>
        <p:nvPicPr>
          <p:cNvPr id="11" name="Image 5" descr="/tmp/claude-0/-home-user-SD-/6071e542-76be-5aaa-a13b-481d427eef5d/scratchpad/pathway-pptx/icons/rehab.png">    </p:cNvPr>
          <p:cNvPicPr>
            <a:picLocks noChangeAspect="1"/>
          </p:cNvPicPr>
          <p:nvPr/>
        </p:nvPicPr>
        <p:blipFill>
          <a:blip r:embed="rId6"/>
          <a:stretch>
            <a:fillRect/>
          </a:stretch>
        </p:blipFill>
        <p:spPr>
          <a:xfrm>
            <a:off x="283464" y="7121047"/>
            <a:ext cx="310896" cy="310896"/>
          </a:xfrm>
          <a:prstGeom prst="rect">
            <a:avLst/>
          </a:prstGeom>
        </p:spPr>
      </p:pic>
      <p:pic>
        <p:nvPicPr>
          <p:cNvPr id="12" name="Image 6" descr="/tmp/claude-0/-home-user-SD-/6071e542-76be-5aaa-a13b-481d427eef5d/scratchpad/pathway-pptx/icons/reason.png">    </p:cNvPr>
          <p:cNvPicPr>
            <a:picLocks noChangeAspect="1"/>
          </p:cNvPicPr>
          <p:nvPr/>
        </p:nvPicPr>
        <p:blipFill>
          <a:blip r:embed="rId7"/>
          <a:stretch>
            <a:fillRect/>
          </a:stretch>
        </p:blipFill>
        <p:spPr>
          <a:xfrm>
            <a:off x="283464" y="8249498"/>
            <a:ext cx="310896" cy="3108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パス10　急性期脳梗塞・エダラボン注射（パス09に上乗せ）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1/1ページ　投与前〜投与終了</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投与開始前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初回投与中(30分)</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投与期間中(毎日)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投与終了時(14日以内)</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47655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発症24時間以内に投与開始できるか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重篤な腎機能障害の除外(禁忌)</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脱水の評価(BUN/Cr比・尿量・身体所見)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肝機能・血算の確認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過敏症状(発疹・掻痒・呼吸困難・血圧低下)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投与部位(血管外漏出)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尿量・in-outバランス</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出血傾向(点状出血・粘膜出血)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黄疸</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投与前値と比較した腎・肝・血算</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投与完了/中止理由の記録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17931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血清Cr・eGFR・BUN・肝機能・血算・凝固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腎機能・肝機能・血算(測定間隔は院内確定)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投与前値と比較した最終評価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172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エダラボン30mgを30分で点滴静注</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1日朝夕2回、各30分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終了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91724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水分をしっかり摂取(脱水予防)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223632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①効能・効果は脳梗塞急性期に伴う神経症候・ADL障害・機能障害の改善。②発症後24時間以内に投与を開始し投与期間は14日以内。③重篤な腎機能障害は禁忌、脱水患者では致命的経過の報告が多い。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①警告：急性腎障害の増悪、重篤な肝障害、DICが現れ致命的経過をたどることがある。②血管外漏出は直ちに投与中止の対象。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①尿量減少は腎障害・脱水を疑い直ちに医師報告。②血小板減少・凝固異常はDICを疑う。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①14日を超える投与は用法・用量からの逸脱であり行わない。②投与終了後の腎・肝機能フォロー方針を確定する。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372134"/>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4200068"/>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5248346"/>
            <a:ext cx="310896" cy="310896"/>
          </a:xfrm>
          <a:prstGeom prst="rect">
            <a:avLst/>
          </a:prstGeom>
        </p:spPr>
      </p:pic>
      <p:pic>
        <p:nvPicPr>
          <p:cNvPr id="9" name="Image 3" descr="/tmp/claude-0/-home-user-SD-/6071e542-76be-5aaa-a13b-481d427eef5d/scratchpad/pathway-pptx/icons/meal.png">    </p:cNvPr>
          <p:cNvPicPr>
            <a:picLocks noChangeAspect="1"/>
          </p:cNvPicPr>
          <p:nvPr/>
        </p:nvPicPr>
        <p:blipFill>
          <a:blip r:embed="rId4"/>
          <a:stretch>
            <a:fillRect/>
          </a:stretch>
        </p:blipFill>
        <p:spPr>
          <a:xfrm>
            <a:off x="283464" y="6165589"/>
            <a:ext cx="310896" cy="310896"/>
          </a:xfrm>
          <a:prstGeom prst="rect">
            <a:avLst/>
          </a:prstGeom>
        </p:spPr>
      </p:pic>
      <p:pic>
        <p:nvPicPr>
          <p:cNvPr id="10" name="Image 4" descr="/tmp/claude-0/-home-user-SD-/6071e542-76be-5aaa-a13b-481d427eef5d/scratchpad/pathway-pptx/icons/reason.png">    </p:cNvPr>
          <p:cNvPicPr>
            <a:picLocks noChangeAspect="1"/>
          </p:cNvPicPr>
          <p:nvPr/>
        </p:nvPicPr>
        <p:blipFill>
          <a:blip r:embed="rId5"/>
          <a:stretch>
            <a:fillRect/>
          </a:stretch>
        </p:blipFill>
        <p:spPr>
          <a:xfrm>
            <a:off x="283464" y="7742373"/>
            <a:ext cx="310896" cy="3108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パス12　脳内出血（急性期）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1/3ページ　入院直後〜24時間</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入院直後(0h)</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0〜6時間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6〜24時間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12211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発症時刻</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来院時血圧(降下目標との対比)</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抗血栓薬服用の有無(ワルファリン/DOAC)</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外科的治療適応の判断</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収縮期血圧140mmHg未満への降下(推奨度1)</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血糖・体温(バンドル項目)</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抗凝固の是正(1時間以内目標)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収縮期血圧140mmHg未満の維持、下限110mmHg超</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フォローアップ画像で血腫拡大の評価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DVT予防の開始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9522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頭部CT、血算(血小板)、凝固(PT-INR)、血糖</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血糖・体温の再評価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フォローアップ頭部CT(医師指示)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2429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降圧薬(持続静注)の準備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降圧薬持続静注(ニカルジピン等)</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抗凝固是正薬(該当例)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降圧薬持続静注の継続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9522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臥床(頭部挙上は医師指示)</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9522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禁食(嚥下評価前)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禁食継続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523571">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①脳内出血急性期は血圧管理が最も推奨度の高い介入(推奨度1：収縮期140mmHg未満)。②抗凝固薬服用例はINR是正を1時間以内に開始する(INTERACT3)。</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①できるだけ早期に収縮期140mmHg未満へ降下させることが血腫拡大抑制に直結する。②血糖・体温・抗凝固是正のバンドル管理で6か月転帰が改善する(INTERACT3)。</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①搬送後1〜24時間、140mmHg未満を維持する。②降下幅90mmHg以上の強化降圧は急性腎障害を回避するため勧められない(推奨度4)。</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194914"/>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732088"/>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4820353"/>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908618"/>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860849"/>
            <a:ext cx="310896" cy="310896"/>
          </a:xfrm>
          <a:prstGeom prst="rect">
            <a:avLst/>
          </a:prstGeom>
        </p:spPr>
      </p:pic>
      <p:pic>
        <p:nvPicPr>
          <p:cNvPr id="11" name="Image 5" descr="/tmp/claude-0/-home-user-SD-/6071e542-76be-5aaa-a13b-481d427eef5d/scratchpad/pathway-pptx/icons/reason.png">    </p:cNvPr>
          <p:cNvPicPr>
            <a:picLocks noChangeAspect="1"/>
          </p:cNvPicPr>
          <p:nvPr/>
        </p:nvPicPr>
        <p:blipFill>
          <a:blip r:embed="rId6"/>
          <a:stretch>
            <a:fillRect/>
          </a:stretch>
        </p:blipFill>
        <p:spPr>
          <a:xfrm>
            <a:off x="283464" y="8098751"/>
            <a:ext cx="310896" cy="3108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パス12　脳内出血（急性期）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2/3ページ　Day1〜3</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Day1</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Day2</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Day3</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776414">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離床時の血圧</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発熱</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排泄・皮膚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血圧の安定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意識レベル(脳浮腫のピーク時期)</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嚥下・摂取状況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血圧の目標範囲維持(7日間の一部)</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合併症の有無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1096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血算・生化学(過度の降圧による腎機能を評価)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医師指示により頭部画像</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9981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嚥下スクリーニング→経口摂取確立で静注から経口降圧薬へ移行を検討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同左</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静注降圧薬の終了を検討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101096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離床開始(N-1条件充足時、血圧含む)</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短時間・頻回で離床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病棟内歩行</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01096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嚥下スクリーニング→結果に基づき開始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摂取量・むせの評価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摂取方法の再評価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61754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①離床は血圧が目標範囲(140mmHg未満・110mmHg超)で安定していることが条件。②AVERT IIIにより超早期高用量離床は避け短時間・頻回とする。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①脳浮腫のピーク時期は意識レベルを重点観察する。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①発症7日間、収縮期血圧140mmHg未満の維持を継続する(推奨度1)。</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022063"/>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415754"/>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4571145"/>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726537"/>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737504"/>
            <a:ext cx="310896" cy="310896"/>
          </a:xfrm>
          <a:prstGeom prst="rect">
            <a:avLst/>
          </a:prstGeom>
        </p:spPr>
      </p:pic>
      <p:pic>
        <p:nvPicPr>
          <p:cNvPr id="11" name="Image 5" descr="/tmp/claude-0/-home-user-SD-/6071e542-76be-5aaa-a13b-481d427eef5d/scratchpad/pathway-pptx/icons/reason.png">    </p:cNvPr>
          <p:cNvPicPr>
            <a:picLocks noChangeAspect="1"/>
          </p:cNvPicPr>
          <p:nvPr/>
        </p:nvPicPr>
        <p:blipFill>
          <a:blip r:embed="rId6"/>
          <a:stretch>
            <a:fillRect/>
          </a:stretch>
        </p:blipFill>
        <p:spPr>
          <a:xfrm>
            <a:off x="283464" y="8051762"/>
            <a:ext cx="310896" cy="3108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パス12　脳内出血（急性期）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3/3ページ　Day4〜退院</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4952848"/>
                <a:gridCol w="495284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Day4〜7</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退院／転院前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153623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7日間の血圧維持を完了</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ADL、摂取量、危険因子の評価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自己血圧測定の実演</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教育理解度</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19484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危険因子の評価(脂質・HbA1c)</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退院時NIHSS・mRSの記録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19484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経口降圧薬で目標血圧を維持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退院処方(降圧薬)の確認と説明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119484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ADL拡大、転倒予防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退院先で生活可能なレベル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19484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食形態の調整、摂取量の確保、減塩指導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確定した方法</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41105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①血圧管理は脳出血の再発予防の中核であり退院後の管理方針を確定する。②尿道カテーテル抜去を検討。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①「血圧管理の重要性」を本人・家族が説明・実演できることを退院要件とする。②再発症状(急な頭痛・意識変化・麻痺)の受診行動を確認する。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1901972"/>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267512"/>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4462360"/>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5657207"/>
            <a:ext cx="310896" cy="310896"/>
          </a:xfrm>
          <a:prstGeom prst="rect">
            <a:avLst/>
          </a:prstGeom>
        </p:spPr>
      </p:pic>
      <p:pic>
        <p:nvPicPr>
          <p:cNvPr id="10" name="Image 4" descr="/tmp/claude-0/-home-user-SD-/6071e542-76be-5aaa-a13b-481d427eef5d/scratchpad/pathway-pptx/icons/meal.png">    </p:cNvPr>
          <p:cNvPicPr>
            <a:picLocks noChangeAspect="1"/>
          </p:cNvPicPr>
          <p:nvPr/>
        </p:nvPicPr>
        <p:blipFill>
          <a:blip r:embed="rId5"/>
          <a:stretch>
            <a:fillRect/>
          </a:stretch>
        </p:blipFill>
        <p:spPr>
          <a:xfrm>
            <a:off x="283464" y="6852054"/>
            <a:ext cx="310896" cy="310896"/>
          </a:xfrm>
          <a:prstGeom prst="rect">
            <a:avLst/>
          </a:prstGeom>
        </p:spPr>
      </p:pic>
      <p:pic>
        <p:nvPicPr>
          <p:cNvPr id="11" name="Image 5" descr="/tmp/claude-0/-home-user-SD-/6071e542-76be-5aaa-a13b-481d427eef5d/scratchpad/pathway-pptx/icons/reason.png">    </p:cNvPr>
          <p:cNvPicPr>
            <a:picLocks noChangeAspect="1"/>
          </p:cNvPicPr>
          <p:nvPr/>
        </p:nvPicPr>
        <p:blipFill>
          <a:blip r:embed="rId6"/>
          <a:stretch>
            <a:fillRect/>
          </a:stretch>
        </p:blipFill>
        <p:spPr>
          <a:xfrm>
            <a:off x="283464" y="8155007"/>
            <a:ext cx="310896"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パス13　静注血栓溶解療法（rt-PA静注療法）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到着〜投与開始</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病院到着</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適応評価</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投与直前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投与開始</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28576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発症時刻(最終健常確認時刻)の確認と記録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NIHSS・意識・血圧・血糖を並行確認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頭部CTで出血除外</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2023年9月追補版チェックリストで禁忌判定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服薬歴(抗凝固薬)</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血圧が適応範囲内(降圧含む)</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F15最終確認7項目</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投与量算出(体重×0.6mg/kg)</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発症4.5時間以内に投与開始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投与開始時刻の記録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31871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血糖(即時)、頭部CT、血算、凝固(PT-INR)</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MRA/CTA(血栓回収の適応判定)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02566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静脈路確保(2本以上が望ましい)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降圧薬(必要時)</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投与量の最終確認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アルテプラーゼ投与開始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102566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臥床(安静)</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207086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①発症4.5時間以内でなければ投与できないため、最終健常確認時刻の確定が最優先。②低血糖は脳卒中様症状の鑑別に必須。</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①頭部CTでの出血除外は適応判定の必須条件。②2023年9月追補版チェックリストを必ず使用する。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①収縮期185mmHg以上/拡張期110mmHg以上は降圧が得られない限り適応外。②投与量は体重×0.6mg/kgでダブルチェックする。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①到着〜投与開始までの時間は質改善指標として全例で記録する。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276740"/>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4078981"/>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5251170"/>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6276836"/>
            <a:ext cx="310896" cy="310896"/>
          </a:xfrm>
          <a:prstGeom prst="rect">
            <a:avLst/>
          </a:prstGeom>
        </p:spPr>
      </p:pic>
      <p:pic>
        <p:nvPicPr>
          <p:cNvPr id="10" name="Image 4" descr="/tmp/claude-0/-home-user-SD-/6071e542-76be-5aaa-a13b-481d427eef5d/scratchpad/pathway-pptx/icons/reason.png">    </p:cNvPr>
          <p:cNvPicPr>
            <a:picLocks noChangeAspect="1"/>
          </p:cNvPicPr>
          <p:nvPr/>
        </p:nvPicPr>
        <p:blipFill>
          <a:blip r:embed="rId5"/>
          <a:stretch>
            <a:fillRect/>
          </a:stretch>
        </p:blipFill>
        <p:spPr>
          <a:xfrm>
            <a:off x="283464" y="7825102"/>
            <a:ext cx="310896" cy="3108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パス13　静注血栓溶解療法（rt-PA静注療法）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投与中〜24時間</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投与中</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投与終了直後〜2時間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〜24時間</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24時間以降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42040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意識レベル・NIHSS(最も鋭敏な指標)</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新規/増強する頭痛(症候性頭蓋内出血の徴候)</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口唇・舌の腫脹(血管性浮腫)</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神経症状の悪化がないか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全身の出血(穿刺部・歯肉・消化管・尿路)</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血圧180/105mmHg以下の維持</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抗血栓薬を投与していないことの確認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24時間後の頭部画像で出血なし確認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嚥下スクリーニング後に抗血栓療法・食事を開始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08608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症状悪化時は緊急頭部CT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医師指示による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24時間後の頭部CT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39638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rt-PA投与継続</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異常時は直ちに中止</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抗血栓薬は投与しない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出血なければ抗血栓療法の開始を検討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1086080">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安静</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臥床(SCU等で24時間以上管理)</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パス09(急性期脳梗塞)へ接続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73772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①投与中の症状悪化は症候性頭蓋内出血を第一に疑い直ちに投与中止・医師報告。②口唇・舌の腫脹は気道確保を最優先。</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①鎮痛薬で頭痛を覆い隠さず、症候性頭蓋内出血の徴候として評価する。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①投与後24時間は血圧180/105mmHg以下を維持し、抗血栓薬の投与を控える(指針)。②SCU等で24時間以上管理する。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①24時間経過後はパス09(急性期脳梗塞)へ接続し、嚥下評価に基づく食事・抗血栓療法を開始する。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344059"/>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4097302"/>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5338535"/>
            <a:ext cx="310896" cy="310896"/>
          </a:xfrm>
          <a:prstGeom prst="rect">
            <a:avLst/>
          </a:prstGeom>
        </p:spPr>
      </p:pic>
      <p:pic>
        <p:nvPicPr>
          <p:cNvPr id="9" name="Image 3" descr="/tmp/claude-0/-home-user-SD-/6071e542-76be-5aaa-a13b-481d427eef5d/scratchpad/pathway-pptx/icons/rest.png">    </p:cNvPr>
          <p:cNvPicPr>
            <a:picLocks noChangeAspect="1"/>
          </p:cNvPicPr>
          <p:nvPr/>
        </p:nvPicPr>
        <p:blipFill>
          <a:blip r:embed="rId4"/>
          <a:stretch>
            <a:fillRect/>
          </a:stretch>
        </p:blipFill>
        <p:spPr>
          <a:xfrm>
            <a:off x="283464" y="6579769"/>
            <a:ext cx="310896" cy="310896"/>
          </a:xfrm>
          <a:prstGeom prst="rect">
            <a:avLst/>
          </a:prstGeom>
        </p:spPr>
      </p:pic>
      <p:pic>
        <p:nvPicPr>
          <p:cNvPr id="10" name="Image 4" descr="/tmp/claude-0/-home-user-SD-/6071e542-76be-5aaa-a13b-481d427eef5d/scratchpad/pathway-pptx/icons/reason.png">    </p:cNvPr>
          <p:cNvPicPr>
            <a:picLocks noChangeAspect="1"/>
          </p:cNvPicPr>
          <p:nvPr/>
        </p:nvPicPr>
        <p:blipFill>
          <a:blip r:embed="rId5"/>
          <a:stretch>
            <a:fillRect/>
          </a:stretch>
        </p:blipFill>
        <p:spPr>
          <a:xfrm>
            <a:off x="283464" y="7991672"/>
            <a:ext cx="310896" cy="3108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パス14　筋萎縮性側索硬化症（ALS）・エダラボン導入／継続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1/2ページ　導入前評価〜初回投与</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2476424"/>
                <a:gridCol w="2476424"/>
                <a:gridCol w="2476424"/>
                <a:gridCol w="2476424"/>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導入前評価(外来)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導入日</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初回投与(30分)</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投与期(第1クール)</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202245">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ALS重症度分類・ALSFRS-R</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%FVC(呼吸機能検査)</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重篤な腎機能障害の除外(注射剤の禁忌)</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嚥下機能・服薬管理体制の評価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剤形(注射剤/経口剤)の決定確認</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適応判断の記録</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治療目的(進行抑制であり改善ではない)の説明と同意</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過敏症状(発疹・呼吸困難・血圧低下)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投与部位(血管外漏出)</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経口剤は空腹時に1日1回の服用条件を確認</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尿量・脱水の身体所見</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出血傾向(DIC関連)</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腎機能・肝機能・血算(測定間隔は院内確定)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27052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血算・凝固・生化学(腎機能・肝機能)、%FVC</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投与前値の確定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腎機能・肝機能・血算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7052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投与開始時刻の記録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注射剤：電子添文の用法用量による／経口剤：105mgを空腹時1日1回</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朝夕2回投与(注射剤)または1日1回(経口剤)</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988187">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食事</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水分をしっかり摂取(脱水予防)</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995196">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①経口剤の効能・効果はALSにおける機能障害の進行抑制のみで脳梗塞の適応はない。②%FVC&lt;70%またはALS重症度分類4度以上は投与経験が少なく医師が個別判断する。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①剤形取り違えを防ぐため注射剤/経口剤の別を必ず確認する(用法用量が全く異なる)。②「進行抑制であり改善ではない」ことの説明と同意が本パスの必須要件。</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①投与量が30mgと105mgで大きく異なるため剤形確認が特に重要。②血管外漏出は直ちに投与中止の対象。</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①注射剤の警告：急性腎障害・重篤な肝障害・DICが致命的経過をたどることがある。②脱水は有害事象の増悪因子であり水分摂取の援助が安全性に直結する。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234978"/>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971364"/>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5241890"/>
            <a:ext cx="310896" cy="310896"/>
          </a:xfrm>
          <a:prstGeom prst="rect">
            <a:avLst/>
          </a:prstGeom>
        </p:spPr>
      </p:pic>
      <p:pic>
        <p:nvPicPr>
          <p:cNvPr id="9" name="Image 3" descr="/tmp/claude-0/-home-user-SD-/6071e542-76be-5aaa-a13b-481d427eef5d/scratchpad/pathway-pptx/icons/meal.png">    </p:cNvPr>
          <p:cNvPicPr>
            <a:picLocks noChangeAspect="1"/>
          </p:cNvPicPr>
          <p:nvPr/>
        </p:nvPicPr>
        <p:blipFill>
          <a:blip r:embed="rId4"/>
          <a:stretch>
            <a:fillRect/>
          </a:stretch>
        </p:blipFill>
        <p:spPr>
          <a:xfrm>
            <a:off x="283464" y="6371246"/>
            <a:ext cx="310896" cy="310896"/>
          </a:xfrm>
          <a:prstGeom prst="rect">
            <a:avLst/>
          </a:prstGeom>
        </p:spPr>
      </p:pic>
      <p:pic>
        <p:nvPicPr>
          <p:cNvPr id="10" name="Image 4" descr="/tmp/claude-0/-home-user-SD-/6071e542-76be-5aaa-a13b-481d427eef5d/scratchpad/pathway-pptx/icons/reason.png">    </p:cNvPr>
          <p:cNvPicPr>
            <a:picLocks noChangeAspect="1"/>
          </p:cNvPicPr>
          <p:nvPr/>
        </p:nvPicPr>
        <p:blipFill>
          <a:blip r:embed="rId5"/>
          <a:stretch>
            <a:fillRect/>
          </a:stretch>
        </p:blipFill>
        <p:spPr>
          <a:xfrm>
            <a:off x="283464" y="7862938"/>
            <a:ext cx="310896" cy="3108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3A5F"/>
          </a:solidFill>
          <a:ln/>
        </p:spPr>
      </p:sp>
      <p:sp>
        <p:nvSpPr>
          <p:cNvPr id="3" name="Text 1"/>
          <p:cNvSpPr/>
          <p:nvPr/>
        </p:nvSpPr>
        <p:spPr>
          <a:xfrm>
            <a:off x="320040" y="0"/>
            <a:ext cx="8686800" cy="56692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パス14　筋萎縮性側索硬化症（ALS）・エダラボン導入／継続　医療者用電子カルテパス</a:t>
            </a:r>
            <a:endParaRPr lang="en-US" sz="1800" dirty="0"/>
          </a:p>
        </p:txBody>
      </p:sp>
      <p:sp>
        <p:nvSpPr>
          <p:cNvPr id="4" name="Text 2"/>
          <p:cNvSpPr/>
          <p:nvPr/>
        </p:nvSpPr>
        <p:spPr>
          <a:xfrm>
            <a:off x="9144000" y="0"/>
            <a:ext cx="2743200" cy="566928"/>
          </a:xfrm>
          <a:prstGeom prst="rect">
            <a:avLst/>
          </a:prstGeom>
          <a:noFill/>
          <a:ln/>
        </p:spPr>
        <p:txBody>
          <a:bodyPr wrap="square" lIns="0" tIns="0" rIns="0" bIns="0" rtlCol="0" anchor="ctr"/>
          <a:lstStyle/>
          <a:p>
            <a:pPr algn="r" indent="0" marL="0">
              <a:buNone/>
            </a:pPr>
            <a:r>
              <a:rPr lang="en-US" sz="1200" dirty="0">
                <a:solidFill>
                  <a:srgbClr val="CBD5E0"/>
                </a:solidFill>
                <a:latin typeface="Meiryo" pitchFamily="34" charset="0"/>
                <a:ea typeface="Meiryo" pitchFamily="34" charset="-122"/>
                <a:cs typeface="Meiryo" pitchFamily="34" charset="-120"/>
              </a:rPr>
              <a:t>2/2ページ　休薬期〜定期再評価</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28600" y="713232"/>
          <a:ext cx="11734495" cy="914400"/>
        </p:xfrm>
        <a:graphic>
          <a:graphicData uri="http://schemas.openxmlformats.org/drawingml/2006/table">
            <a:tbl>
              <a:tblPr/>
              <a:tblGrid>
                <a:gridCol w="457200"/>
                <a:gridCol w="1371600"/>
                <a:gridCol w="3301898"/>
                <a:gridCol w="3301898"/>
                <a:gridCol w="3301898"/>
              </a:tblGrid>
              <a:tr h="566928">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ユニット</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休薬期</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第2クール以降</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定期再評価</a:t>
                      </a:r>
                      <a:endParaRPr lang="en-US" sz="110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E3A5F"/>
                    </a:solidFill>
                  </a:tcPr>
                </a:tc>
              </a:tr>
              <a:tr h="2135689">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観察点・看護</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体調・有害事象の遅発</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服薬・生活状況</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アドヒアランス</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介護者の状況</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各クール前後の腎機能・肝機能・血算</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ALSFRS-R・%FVC・体重・嚥下の定期評価</a:t>
                      </a:r>
                      <a:endParaRPr lang="en-US" sz="1200" dirty="0"/>
                    </a:p>
                    <a:p>
                      <a:pPr algn="l" indent="0" marL="0">
                        <a:buNone/>
                      </a:pPr>
                      <a:r>
                        <a:rPr lang="en-US" sz="900" dirty="0">
                          <a:solidFill>
                            <a:srgbClr val="2D3748"/>
                          </a:solidFill>
                          <a:latin typeface="Meiryo" pitchFamily="34" charset="0"/>
                          <a:ea typeface="Meiryo" pitchFamily="34" charset="-122"/>
                          <a:cs typeface="Meiryo" pitchFamily="34" charset="-120"/>
                        </a:rPr>
                        <a:t>呼吸療法・栄養療法の意思決定支援の継続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21543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検査・治療</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次クール前の検査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各クール前後の検査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%FVC、体重、血液検査</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121543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注射・点滴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外来／在宅での支援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投与の継続</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継続の可否を医師と相談</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DF2F7"/>
                    </a:solidFill>
                  </a:tcPr>
                </a:tc>
              </a:tr>
              <a:tr h="1215433">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退院調整</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c>
                  <a:txBody>
                    <a:bodyPr/>
                    <a:lstStyle/>
                    <a:p>
                      <a:pPr algn="l" indent="0" marL="0">
                        <a:buNone/>
                      </a:pPr>
                      <a:r>
                        <a:rPr lang="en-US" sz="900" dirty="0">
                          <a:solidFill>
                            <a:srgbClr val="2D3748"/>
                          </a:solidFill>
                          <a:latin typeface="Meiryo" pitchFamily="34" charset="0"/>
                          <a:ea typeface="Meiryo" pitchFamily="34" charset="-122"/>
                          <a:cs typeface="Meiryo" pitchFamily="34" charset="-120"/>
                        </a:rPr>
                        <a:t>指定難病の医療費助成、介護保険・障害福祉サービスの調整</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E8EEF5"/>
                    </a:solidFill>
                  </a:tcPr>
                </a:tc>
              </a:tr>
              <a:tr h="1944692">
                <a:tc>
                  <a:txBody>
                    <a:bodyPr/>
                    <a:lstStyle/>
                    <a:p>
                      <a:pPr indent="0" marL="0">
                        <a:buNone/>
                      </a:pPr>
                      <a:endParaRPr lang="en-US" sz="1200" dirty="0"/>
                    </a:p>
                  </a:txBody>
                  <a:tcPr marL="91440" marR="91440" marT="45720" marB="4572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1050" b="1" dirty="0">
                          <a:solidFill>
                            <a:srgbClr val="2D3748"/>
                          </a:solidFill>
                          <a:latin typeface="Meiryo" pitchFamily="34" charset="0"/>
                          <a:ea typeface="Meiryo" pitchFamily="34" charset="-122"/>
                          <a:cs typeface="Meiryo" pitchFamily="34" charset="-120"/>
                        </a:rPr>
                        <a:t>理由</a:t>
                      </a:r>
                      <a:endParaRPr lang="en-US" sz="1050" dirty="0">
                        <a:latin typeface="Meiryo" charset="0"/>
                        <a:ea typeface="Meiryo" charset="0"/>
                        <a:cs typeface="Meiryo"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①休薬期も外来／在宅での支援体制の確認を継続する。</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①服薬管理は「空腹時1日1回」の遵守が中心的な観察項目。②介護者の負担評価とレスパイト支援の検討。</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c>
                  <a:txBody>
                    <a:bodyPr/>
                    <a:lstStyle/>
                    <a:p>
                      <a:pPr algn="l" indent="0" marL="0">
                        <a:buNone/>
                      </a:pPr>
                      <a:r>
                        <a:rPr lang="en-US" sz="800" dirty="0">
                          <a:solidFill>
                            <a:srgbClr val="2D3748"/>
                          </a:solidFill>
                          <a:latin typeface="Meiryo" pitchFamily="34" charset="0"/>
                          <a:ea typeface="Meiryo" pitchFamily="34" charset="-122"/>
                          <a:cs typeface="Meiryo" pitchFamily="34" charset="-120"/>
                        </a:rPr>
                        <a:t>①ALSは進行性疾患であり進行そのものはバリアンスではないが、呼吸療法・栄養療法の情報提供と意思決定支援は継続的に行う(結論を急がない)。</a:t>
                      </a:r>
                      <a:endParaRPr lang="en-US" sz="1200" dirty="0"/>
                    </a:p>
                  </a:txBody>
                  <a:tcPr marL="50800" marR="50800" marT="38100" marB="38100" anchor="t">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BEA"/>
                    </a:solidFill>
                  </a:tcPr>
                </a:tc>
              </a:tr>
            </a:tbl>
          </a:graphicData>
        </a:graphic>
      </p:graphicFrame>
      <p:pic>
        <p:nvPicPr>
          <p:cNvPr id="6" name="Image 0" descr="/tmp/claude-0/-home-user-SD-/6071e542-76be-5aaa-a13b-481d427eef5d/scratchpad/pathway-pptx/icons/observe.png">    </p:cNvPr>
          <p:cNvPicPr>
            <a:picLocks noChangeAspect="1"/>
          </p:cNvPicPr>
          <p:nvPr/>
        </p:nvPicPr>
        <p:blipFill>
          <a:blip r:embed="rId1"/>
          <a:stretch>
            <a:fillRect/>
          </a:stretch>
        </p:blipFill>
        <p:spPr>
          <a:xfrm>
            <a:off x="283464" y="2201701"/>
            <a:ext cx="310896" cy="310896"/>
          </a:xfrm>
          <a:prstGeom prst="rect">
            <a:avLst/>
          </a:prstGeom>
        </p:spPr>
      </p:pic>
      <p:pic>
        <p:nvPicPr>
          <p:cNvPr id="7" name="Image 1" descr="/tmp/claude-0/-home-user-SD-/6071e542-76be-5aaa-a13b-481d427eef5d/scratchpad/pathway-pptx/icons/test.png">    </p:cNvPr>
          <p:cNvPicPr>
            <a:picLocks noChangeAspect="1"/>
          </p:cNvPicPr>
          <p:nvPr/>
        </p:nvPicPr>
        <p:blipFill>
          <a:blip r:embed="rId2"/>
          <a:stretch>
            <a:fillRect/>
          </a:stretch>
        </p:blipFill>
        <p:spPr>
          <a:xfrm>
            <a:off x="283464" y="3877261"/>
            <a:ext cx="310896" cy="310896"/>
          </a:xfrm>
          <a:prstGeom prst="rect">
            <a:avLst/>
          </a:prstGeom>
        </p:spPr>
      </p:pic>
      <p:pic>
        <p:nvPicPr>
          <p:cNvPr id="8" name="Image 2" descr="/tmp/claude-0/-home-user-SD-/6071e542-76be-5aaa-a13b-481d427eef5d/scratchpad/pathway-pptx/icons/drip.png">    </p:cNvPr>
          <p:cNvPicPr>
            <a:picLocks noChangeAspect="1"/>
          </p:cNvPicPr>
          <p:nvPr/>
        </p:nvPicPr>
        <p:blipFill>
          <a:blip r:embed="rId3"/>
          <a:stretch>
            <a:fillRect/>
          </a:stretch>
        </p:blipFill>
        <p:spPr>
          <a:xfrm>
            <a:off x="283464" y="5092694"/>
            <a:ext cx="310896" cy="310896"/>
          </a:xfrm>
          <a:prstGeom prst="rect">
            <a:avLst/>
          </a:prstGeom>
        </p:spPr>
      </p:pic>
      <p:pic>
        <p:nvPicPr>
          <p:cNvPr id="9" name="Image 3" descr="/tmp/claude-0/-home-user-SD-/6071e542-76be-5aaa-a13b-481d427eef5d/scratchpad/pathway-pptx/icons/discharge.png">    </p:cNvPr>
          <p:cNvPicPr>
            <a:picLocks noChangeAspect="1"/>
          </p:cNvPicPr>
          <p:nvPr/>
        </p:nvPicPr>
        <p:blipFill>
          <a:blip r:embed="rId4"/>
          <a:stretch>
            <a:fillRect/>
          </a:stretch>
        </p:blipFill>
        <p:spPr>
          <a:xfrm>
            <a:off x="283464" y="6308127"/>
            <a:ext cx="310896" cy="310896"/>
          </a:xfrm>
          <a:prstGeom prst="rect">
            <a:avLst/>
          </a:prstGeom>
        </p:spPr>
      </p:pic>
      <p:pic>
        <p:nvPicPr>
          <p:cNvPr id="10" name="Image 4" descr="/tmp/claude-0/-home-user-SD-/6071e542-76be-5aaa-a13b-481d427eef5d/scratchpad/pathway-pptx/icons/reason.png">    </p:cNvPr>
          <p:cNvPicPr>
            <a:picLocks noChangeAspect="1"/>
          </p:cNvPicPr>
          <p:nvPr/>
        </p:nvPicPr>
        <p:blipFill>
          <a:blip r:embed="rId5"/>
          <a:stretch>
            <a:fillRect/>
          </a:stretch>
        </p:blipFill>
        <p:spPr>
          <a:xfrm>
            <a:off x="283464" y="7888190"/>
            <a:ext cx="310896" cy="3108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C53030"/>
          </a:solidFill>
          <a:ln/>
        </p:spPr>
      </p:sp>
      <p:sp>
        <p:nvSpPr>
          <p:cNvPr id="3" name="Text 1"/>
          <p:cNvSpPr/>
          <p:nvPr/>
        </p:nvSpPr>
        <p:spPr>
          <a:xfrm>
            <a:off x="320040" y="54864"/>
            <a:ext cx="1152144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パス11　「脳梗塞・エダラボン経口薬」現行パスの適応整合性検証</a:t>
            </a:r>
            <a:endParaRPr lang="en-US" sz="1800" dirty="0"/>
          </a:p>
        </p:txBody>
      </p:sp>
      <p:sp>
        <p:nvSpPr>
          <p:cNvPr id="4" name="Text 2"/>
          <p:cNvSpPr/>
          <p:nvPr/>
        </p:nvSpPr>
        <p:spPr>
          <a:xfrm>
            <a:off x="320040" y="438912"/>
            <a:ext cx="11521440" cy="329184"/>
          </a:xfrm>
          <a:prstGeom prst="rect">
            <a:avLst/>
          </a:prstGeom>
          <a:noFill/>
          <a:ln/>
        </p:spPr>
        <p:txBody>
          <a:bodyPr wrap="square" lIns="0" tIns="0" rIns="0" bIns="0" rtlCol="0" anchor="ctr"/>
          <a:lstStyle/>
          <a:p>
            <a:pPr indent="0" marL="0">
              <a:buNone/>
            </a:pPr>
            <a:r>
              <a:rPr lang="en-US" sz="1100" dirty="0">
                <a:solidFill>
                  <a:srgbClr val="FCE8E8"/>
                </a:solidFill>
                <a:latin typeface="Meiryo" pitchFamily="34" charset="0"/>
                <a:ea typeface="Meiryo" pitchFamily="34" charset="-122"/>
                <a:cs typeface="Meiryo" pitchFamily="34" charset="-120"/>
              </a:rPr>
              <a:t>⚠ これは通常の診療パスではなく、現行院内パスの適応を検証するための手順書です</a:t>
            </a:r>
            <a:endParaRPr lang="en-US" sz="1100" dirty="0"/>
          </a:p>
        </p:txBody>
      </p:sp>
      <p:sp>
        <p:nvSpPr>
          <p:cNvPr id="5" name="Shape 3"/>
          <p:cNvSpPr/>
          <p:nvPr/>
        </p:nvSpPr>
        <p:spPr>
          <a:xfrm>
            <a:off x="320040" y="960120"/>
            <a:ext cx="11521440" cy="1051560"/>
          </a:xfrm>
          <a:prstGeom prst="roundRect">
            <a:avLst>
              <a:gd name="adj" fmla="val 5217"/>
            </a:avLst>
          </a:prstGeom>
          <a:solidFill>
            <a:srgbClr val="FCE8E8"/>
          </a:solidFill>
          <a:ln w="15875">
            <a:solidFill>
              <a:srgbClr val="C53030"/>
            </a:solidFill>
            <a:prstDash val="solid"/>
          </a:ln>
        </p:spPr>
      </p:sp>
      <p:sp>
        <p:nvSpPr>
          <p:cNvPr id="6" name="Text 4"/>
          <p:cNvSpPr/>
          <p:nvPr/>
        </p:nvSpPr>
        <p:spPr>
          <a:xfrm>
            <a:off x="548640" y="1051560"/>
            <a:ext cx="11064240" cy="868680"/>
          </a:xfrm>
          <a:prstGeom prst="rect">
            <a:avLst/>
          </a:prstGeom>
          <a:noFill/>
          <a:ln/>
        </p:spPr>
        <p:txBody>
          <a:bodyPr wrap="square" lIns="0" tIns="0" rIns="0" bIns="0" rtlCol="0" anchor="t"/>
          <a:lstStyle/>
          <a:p>
            <a:pPr indent="0" marL="0">
              <a:lnSpc>
                <a:spcPct val="115000"/>
              </a:lnSpc>
              <a:buNone/>
            </a:pPr>
            <a:r>
              <a:rPr lang="en-US" sz="1200" b="1" dirty="0">
                <a:solidFill>
                  <a:srgbClr val="C53030"/>
                </a:solidFill>
                <a:latin typeface="Meiryo" pitchFamily="34" charset="0"/>
                <a:ea typeface="Meiryo" pitchFamily="34" charset="-122"/>
                <a:cs typeface="Meiryo" pitchFamily="34" charset="-120"/>
              </a:rPr>
              <a:t>確認された事実：</a:t>
            </a:r>
            <a:endParaRPr lang="en-US" sz="1200" dirty="0"/>
          </a:p>
          <a:p>
            <a:pPr indent="0" marL="0">
              <a:lnSpc>
                <a:spcPct val="115000"/>
              </a:lnSpc>
              <a:buNone/>
            </a:pPr>
            <a:r>
              <a:rPr lang="en-US" sz="1100" dirty="0">
                <a:solidFill>
                  <a:srgbClr val="2D3748"/>
                </a:solidFill>
                <a:latin typeface="Meiryo" pitchFamily="34" charset="0"/>
                <a:ea typeface="Meiryo" pitchFamily="34" charset="-122"/>
                <a:cs typeface="Meiryo" pitchFamily="34" charset="-120"/>
              </a:rPr>
              <a:t>エダラボン経口剤(ラジカット®内用懸濁液2.1%)の効能・効果は「筋萎縮性側索硬化症(ALS)における機能障害の進行抑制」のみで、脳梗塞急性期の適応を有しない。脳梗塞急性期の適応を有するのは注射剤である。</a:t>
            </a:r>
            <a:endParaRPr lang="en-US" sz="1200" dirty="0"/>
          </a:p>
        </p:txBody>
      </p:sp>
      <p:sp>
        <p:nvSpPr>
          <p:cNvPr id="7" name="Shape 5"/>
          <p:cNvSpPr/>
          <p:nvPr/>
        </p:nvSpPr>
        <p:spPr>
          <a:xfrm>
            <a:off x="4754880" y="2286000"/>
            <a:ext cx="2743200" cy="502920"/>
          </a:xfrm>
          <a:prstGeom prst="roundRect">
            <a:avLst>
              <a:gd name="adj" fmla="val 10909"/>
            </a:avLst>
          </a:prstGeom>
          <a:solidFill>
            <a:srgbClr val="1E3A5F"/>
          </a:solidFill>
          <a:ln/>
        </p:spPr>
      </p:sp>
      <p:sp>
        <p:nvSpPr>
          <p:cNvPr id="8" name="Text 6"/>
          <p:cNvSpPr/>
          <p:nvPr/>
        </p:nvSpPr>
        <p:spPr>
          <a:xfrm>
            <a:off x="4754880" y="2286000"/>
            <a:ext cx="27432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登録されている剤形は？</a:t>
            </a:r>
            <a:endParaRPr lang="en-US" sz="1200" dirty="0"/>
          </a:p>
        </p:txBody>
      </p:sp>
      <p:sp>
        <p:nvSpPr>
          <p:cNvPr id="9" name="Shape 7"/>
          <p:cNvSpPr/>
          <p:nvPr/>
        </p:nvSpPr>
        <p:spPr>
          <a:xfrm>
            <a:off x="2057400" y="2788920"/>
            <a:ext cx="0" cy="365760"/>
          </a:xfrm>
          <a:prstGeom prst="line">
            <a:avLst/>
          </a:prstGeom>
          <a:noFill/>
          <a:ln w="15875">
            <a:solidFill>
              <a:srgbClr val="A0AEC0"/>
            </a:solidFill>
            <a:prstDash val="solid"/>
          </a:ln>
        </p:spPr>
      </p:sp>
      <p:sp>
        <p:nvSpPr>
          <p:cNvPr id="10" name="Shape 8"/>
          <p:cNvSpPr/>
          <p:nvPr/>
        </p:nvSpPr>
        <p:spPr>
          <a:xfrm>
            <a:off x="502920" y="3154680"/>
            <a:ext cx="3108960" cy="548640"/>
          </a:xfrm>
          <a:prstGeom prst="roundRect">
            <a:avLst>
              <a:gd name="adj" fmla="val 10000"/>
            </a:avLst>
          </a:prstGeom>
          <a:solidFill>
            <a:srgbClr val="2F855A"/>
          </a:solidFill>
          <a:ln/>
        </p:spPr>
      </p:sp>
      <p:sp>
        <p:nvSpPr>
          <p:cNvPr id="11" name="Text 9"/>
          <p:cNvSpPr/>
          <p:nvPr/>
        </p:nvSpPr>
        <p:spPr>
          <a:xfrm>
            <a:off x="502920" y="3154680"/>
            <a:ext cx="31089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注射剤</a:t>
            </a:r>
            <a:endParaRPr lang="en-US" sz="1100" dirty="0"/>
          </a:p>
          <a:p>
            <a:pPr algn="ctr" indent="0" marL="0">
              <a:buNone/>
            </a:pPr>
            <a:r>
              <a:rPr lang="en-US" sz="1100" b="1" dirty="0">
                <a:solidFill>
                  <a:srgbClr val="FFFFFF"/>
                </a:solidFill>
                <a:latin typeface="Meiryo" pitchFamily="34" charset="0"/>
                <a:ea typeface="Meiryo" pitchFamily="34" charset="-122"/>
                <a:cs typeface="Meiryo" pitchFamily="34" charset="-120"/>
              </a:rPr>
              <a:t>を使用</a:t>
            </a:r>
            <a:endParaRPr lang="en-US" sz="1100" dirty="0"/>
          </a:p>
        </p:txBody>
      </p:sp>
      <p:sp>
        <p:nvSpPr>
          <p:cNvPr id="12" name="Shape 10"/>
          <p:cNvSpPr/>
          <p:nvPr/>
        </p:nvSpPr>
        <p:spPr>
          <a:xfrm>
            <a:off x="2057400" y="3703320"/>
            <a:ext cx="0" cy="274320"/>
          </a:xfrm>
          <a:prstGeom prst="line">
            <a:avLst/>
          </a:prstGeom>
          <a:noFill/>
          <a:ln w="15875">
            <a:solidFill>
              <a:srgbClr val="A0AEC0"/>
            </a:solidFill>
            <a:prstDash val="solid"/>
          </a:ln>
        </p:spPr>
      </p:sp>
      <p:sp>
        <p:nvSpPr>
          <p:cNvPr id="13" name="Shape 11"/>
          <p:cNvSpPr/>
          <p:nvPr/>
        </p:nvSpPr>
        <p:spPr>
          <a:xfrm>
            <a:off x="6035040" y="2788920"/>
            <a:ext cx="0" cy="365760"/>
          </a:xfrm>
          <a:prstGeom prst="line">
            <a:avLst/>
          </a:prstGeom>
          <a:noFill/>
          <a:ln w="15875">
            <a:solidFill>
              <a:srgbClr val="A0AEC0"/>
            </a:solidFill>
            <a:prstDash val="solid"/>
          </a:ln>
        </p:spPr>
      </p:sp>
      <p:sp>
        <p:nvSpPr>
          <p:cNvPr id="14" name="Shape 12"/>
          <p:cNvSpPr/>
          <p:nvPr/>
        </p:nvSpPr>
        <p:spPr>
          <a:xfrm>
            <a:off x="4480560" y="3154680"/>
            <a:ext cx="3108960" cy="548640"/>
          </a:xfrm>
          <a:prstGeom prst="roundRect">
            <a:avLst>
              <a:gd name="adj" fmla="val 10000"/>
            </a:avLst>
          </a:prstGeom>
          <a:solidFill>
            <a:srgbClr val="B7791F"/>
          </a:solidFill>
          <a:ln/>
        </p:spPr>
      </p:sp>
      <p:sp>
        <p:nvSpPr>
          <p:cNvPr id="15" name="Text 13"/>
          <p:cNvSpPr/>
          <p:nvPr/>
        </p:nvSpPr>
        <p:spPr>
          <a:xfrm>
            <a:off x="4480560" y="3154680"/>
            <a:ext cx="31089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経口剤</a:t>
            </a:r>
            <a:endParaRPr lang="en-US" sz="1100" dirty="0"/>
          </a:p>
          <a:p>
            <a:pPr algn="ctr" indent="0" marL="0">
              <a:buNone/>
            </a:pPr>
            <a:r>
              <a:rPr lang="en-US" sz="1100" b="1" dirty="0">
                <a:solidFill>
                  <a:srgbClr val="FFFFFF"/>
                </a:solidFill>
                <a:latin typeface="Meiryo" pitchFamily="34" charset="0"/>
                <a:ea typeface="Meiryo" pitchFamily="34" charset="-122"/>
                <a:cs typeface="Meiryo" pitchFamily="34" charset="-120"/>
              </a:rPr>
              <a:t>を使用</a:t>
            </a:r>
            <a:endParaRPr lang="en-US" sz="1100" dirty="0"/>
          </a:p>
        </p:txBody>
      </p:sp>
      <p:sp>
        <p:nvSpPr>
          <p:cNvPr id="16" name="Shape 14"/>
          <p:cNvSpPr/>
          <p:nvPr/>
        </p:nvSpPr>
        <p:spPr>
          <a:xfrm>
            <a:off x="6035040" y="3703320"/>
            <a:ext cx="0" cy="274320"/>
          </a:xfrm>
          <a:prstGeom prst="line">
            <a:avLst/>
          </a:prstGeom>
          <a:noFill/>
          <a:ln w="15875">
            <a:solidFill>
              <a:srgbClr val="A0AEC0"/>
            </a:solidFill>
            <a:prstDash val="solid"/>
          </a:ln>
        </p:spPr>
      </p:sp>
      <p:sp>
        <p:nvSpPr>
          <p:cNvPr id="17" name="Shape 15"/>
          <p:cNvSpPr/>
          <p:nvPr/>
        </p:nvSpPr>
        <p:spPr>
          <a:xfrm>
            <a:off x="10012680" y="2788920"/>
            <a:ext cx="0" cy="365760"/>
          </a:xfrm>
          <a:prstGeom prst="line">
            <a:avLst/>
          </a:prstGeom>
          <a:noFill/>
          <a:ln w="15875">
            <a:solidFill>
              <a:srgbClr val="A0AEC0"/>
            </a:solidFill>
            <a:prstDash val="solid"/>
          </a:ln>
        </p:spPr>
      </p:sp>
      <p:sp>
        <p:nvSpPr>
          <p:cNvPr id="18" name="Shape 16"/>
          <p:cNvSpPr/>
          <p:nvPr/>
        </p:nvSpPr>
        <p:spPr>
          <a:xfrm>
            <a:off x="8458200" y="3154680"/>
            <a:ext cx="3108960" cy="548640"/>
          </a:xfrm>
          <a:prstGeom prst="roundRect">
            <a:avLst>
              <a:gd name="adj" fmla="val 10000"/>
            </a:avLst>
          </a:prstGeom>
          <a:solidFill>
            <a:srgbClr val="718096"/>
          </a:solidFill>
          <a:ln/>
        </p:spPr>
      </p:sp>
      <p:sp>
        <p:nvSpPr>
          <p:cNvPr id="19" name="Text 17"/>
          <p:cNvSpPr/>
          <p:nvPr/>
        </p:nvSpPr>
        <p:spPr>
          <a:xfrm>
            <a:off x="8458200" y="3154680"/>
            <a:ext cx="31089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実績なし</a:t>
            </a:r>
            <a:endParaRPr lang="en-US" sz="1100" dirty="0"/>
          </a:p>
        </p:txBody>
      </p:sp>
      <p:sp>
        <p:nvSpPr>
          <p:cNvPr id="20" name="Shape 18"/>
          <p:cNvSpPr/>
          <p:nvPr/>
        </p:nvSpPr>
        <p:spPr>
          <a:xfrm>
            <a:off x="10012680" y="3703320"/>
            <a:ext cx="0" cy="274320"/>
          </a:xfrm>
          <a:prstGeom prst="line">
            <a:avLst/>
          </a:prstGeom>
          <a:noFill/>
          <a:ln w="15875">
            <a:solidFill>
              <a:srgbClr val="A0AEC0"/>
            </a:solidFill>
            <a:prstDash val="solid"/>
          </a:ln>
        </p:spPr>
      </p:sp>
      <p:sp>
        <p:nvSpPr>
          <p:cNvPr id="21" name="Shape 19"/>
          <p:cNvSpPr/>
          <p:nvPr/>
        </p:nvSpPr>
        <p:spPr>
          <a:xfrm>
            <a:off x="320040" y="3977640"/>
            <a:ext cx="3657600" cy="2331720"/>
          </a:xfrm>
          <a:prstGeom prst="roundRect">
            <a:avLst>
              <a:gd name="adj" fmla="val 2353"/>
            </a:avLst>
          </a:prstGeom>
          <a:solidFill>
            <a:srgbClr val="E6F4EA"/>
          </a:solidFill>
          <a:ln w="15875">
            <a:solidFill>
              <a:srgbClr val="2F855A"/>
            </a:solidFill>
            <a:prstDash val="solid"/>
          </a:ln>
        </p:spPr>
      </p:sp>
      <p:sp>
        <p:nvSpPr>
          <p:cNvPr id="22" name="Text 20"/>
          <p:cNvSpPr/>
          <p:nvPr/>
        </p:nvSpPr>
        <p:spPr>
          <a:xfrm>
            <a:off x="457200" y="4087368"/>
            <a:ext cx="3383280" cy="365760"/>
          </a:xfrm>
          <a:prstGeom prst="rect">
            <a:avLst/>
          </a:prstGeom>
          <a:noFill/>
          <a:ln/>
        </p:spPr>
        <p:txBody>
          <a:bodyPr wrap="square" lIns="0" tIns="0" rIns="0" bIns="0" rtlCol="0" anchor="ctr"/>
          <a:lstStyle/>
          <a:p>
            <a:pPr indent="0" marL="0">
              <a:buNone/>
            </a:pPr>
            <a:r>
              <a:rPr lang="en-US" sz="1250" b="1" dirty="0">
                <a:solidFill>
                  <a:srgbClr val="2D3748"/>
                </a:solidFill>
                <a:latin typeface="Meiryo" pitchFamily="34" charset="0"/>
                <a:ea typeface="Meiryo" pitchFamily="34" charset="-122"/>
                <a:cs typeface="Meiryo" pitchFamily="34" charset="-120"/>
              </a:rPr>
              <a:t>仮説(a) 名称の誤り</a:t>
            </a:r>
            <a:endParaRPr lang="en-US" sz="1250" dirty="0"/>
          </a:p>
        </p:txBody>
      </p:sp>
      <p:sp>
        <p:nvSpPr>
          <p:cNvPr id="23" name="Text 21"/>
          <p:cNvSpPr/>
          <p:nvPr/>
        </p:nvSpPr>
        <p:spPr>
          <a:xfrm>
            <a:off x="457200" y="4480560"/>
            <a:ext cx="3383280" cy="1051560"/>
          </a:xfrm>
          <a:prstGeom prst="rect">
            <a:avLst/>
          </a:prstGeom>
          <a:noFill/>
          <a:ln/>
        </p:spPr>
        <p:txBody>
          <a:bodyPr wrap="square" lIns="0" tIns="0" rIns="0" bIns="0" rtlCol="0" anchor="t"/>
          <a:lstStyle/>
          <a:p>
            <a:pPr indent="0" marL="0">
              <a:lnSpc>
                <a:spcPct val="115000"/>
              </a:lnSpc>
              <a:buNone/>
            </a:pPr>
            <a:r>
              <a:rPr lang="en-US" sz="1000" dirty="0">
                <a:solidFill>
                  <a:srgbClr val="2D3748"/>
                </a:solidFill>
                <a:latin typeface="Meiryo" pitchFamily="34" charset="0"/>
                <a:ea typeface="Meiryo" pitchFamily="34" charset="-122"/>
                <a:cs typeface="Meiryo" pitchFamily="34" charset="-120"/>
              </a:rPr>
              <a:t>対象は脳梗塞で正しいが、実際は注射剤を使用している。パス名称に「経口薬」と誤記載。</a:t>
            </a:r>
            <a:endParaRPr lang="en-US" sz="1000" dirty="0"/>
          </a:p>
        </p:txBody>
      </p:sp>
      <p:sp>
        <p:nvSpPr>
          <p:cNvPr id="24" name="Text 22"/>
          <p:cNvSpPr/>
          <p:nvPr/>
        </p:nvSpPr>
        <p:spPr>
          <a:xfrm>
            <a:off x="457200" y="5623560"/>
            <a:ext cx="3383280" cy="594360"/>
          </a:xfrm>
          <a:prstGeom prst="rect">
            <a:avLst/>
          </a:prstGeom>
          <a:noFill/>
          <a:ln/>
        </p:spPr>
        <p:txBody>
          <a:bodyPr wrap="square" lIns="0" tIns="0" rIns="0" bIns="0" rtlCol="0" anchor="t"/>
          <a:lstStyle/>
          <a:p>
            <a:pPr indent="0" marL="0">
              <a:lnSpc>
                <a:spcPct val="110000"/>
              </a:lnSpc>
              <a:buNone/>
            </a:pPr>
            <a:r>
              <a:rPr lang="en-US" sz="1000" b="1" dirty="0">
                <a:solidFill>
                  <a:srgbClr val="2F855A"/>
                </a:solidFill>
                <a:latin typeface="Meiryo" pitchFamily="34" charset="0"/>
                <a:ea typeface="Meiryo" pitchFamily="34" charset="-122"/>
                <a:cs typeface="Meiryo" pitchFamily="34" charset="-120"/>
              </a:rPr>
              <a:t>→ パス10(脳梗塞・エダラボン注射)へ統合し名称を是正</a:t>
            </a:r>
            <a:endParaRPr lang="en-US" sz="1000" dirty="0"/>
          </a:p>
        </p:txBody>
      </p:sp>
      <p:sp>
        <p:nvSpPr>
          <p:cNvPr id="25" name="Shape 23"/>
          <p:cNvSpPr/>
          <p:nvPr/>
        </p:nvSpPr>
        <p:spPr>
          <a:xfrm>
            <a:off x="4251960" y="3977640"/>
            <a:ext cx="3657600" cy="2331720"/>
          </a:xfrm>
          <a:prstGeom prst="roundRect">
            <a:avLst>
              <a:gd name="adj" fmla="val 2353"/>
            </a:avLst>
          </a:prstGeom>
          <a:solidFill>
            <a:srgbClr val="FEF6E4"/>
          </a:solidFill>
          <a:ln w="15875">
            <a:solidFill>
              <a:srgbClr val="B7791F"/>
            </a:solidFill>
            <a:prstDash val="solid"/>
          </a:ln>
        </p:spPr>
      </p:sp>
      <p:sp>
        <p:nvSpPr>
          <p:cNvPr id="26" name="Text 24"/>
          <p:cNvSpPr/>
          <p:nvPr/>
        </p:nvSpPr>
        <p:spPr>
          <a:xfrm>
            <a:off x="4389120" y="4087368"/>
            <a:ext cx="3383280" cy="365760"/>
          </a:xfrm>
          <a:prstGeom prst="rect">
            <a:avLst/>
          </a:prstGeom>
          <a:noFill/>
          <a:ln/>
        </p:spPr>
        <p:txBody>
          <a:bodyPr wrap="square" lIns="0" tIns="0" rIns="0" bIns="0" rtlCol="0" anchor="ctr"/>
          <a:lstStyle/>
          <a:p>
            <a:pPr indent="0" marL="0">
              <a:buNone/>
            </a:pPr>
            <a:r>
              <a:rPr lang="en-US" sz="1250" b="1" dirty="0">
                <a:solidFill>
                  <a:srgbClr val="2D3748"/>
                </a:solidFill>
                <a:latin typeface="Meiryo" pitchFamily="34" charset="0"/>
                <a:ea typeface="Meiryo" pitchFamily="34" charset="-122"/>
                <a:cs typeface="Meiryo" pitchFamily="34" charset="-120"/>
              </a:rPr>
              <a:t>仮説(b) 対象疾患の誤り</a:t>
            </a:r>
            <a:endParaRPr lang="en-US" sz="1250" dirty="0"/>
          </a:p>
        </p:txBody>
      </p:sp>
      <p:sp>
        <p:nvSpPr>
          <p:cNvPr id="27" name="Text 25"/>
          <p:cNvSpPr/>
          <p:nvPr/>
        </p:nvSpPr>
        <p:spPr>
          <a:xfrm>
            <a:off x="4389120" y="4480560"/>
            <a:ext cx="3383280" cy="1051560"/>
          </a:xfrm>
          <a:prstGeom prst="rect">
            <a:avLst/>
          </a:prstGeom>
          <a:noFill/>
          <a:ln/>
        </p:spPr>
        <p:txBody>
          <a:bodyPr wrap="square" lIns="0" tIns="0" rIns="0" bIns="0" rtlCol="0" anchor="t"/>
          <a:lstStyle/>
          <a:p>
            <a:pPr indent="0" marL="0">
              <a:lnSpc>
                <a:spcPct val="115000"/>
              </a:lnSpc>
              <a:buNone/>
            </a:pPr>
            <a:r>
              <a:rPr lang="en-US" sz="1000" dirty="0">
                <a:solidFill>
                  <a:srgbClr val="2D3748"/>
                </a:solidFill>
                <a:latin typeface="Meiryo" pitchFamily="34" charset="0"/>
                <a:ea typeface="Meiryo" pitchFamily="34" charset="-122"/>
                <a:cs typeface="Meiryo" pitchFamily="34" charset="-120"/>
              </a:rPr>
              <a:t>使用薬剤は経口剤で正しいが、実際の対象はALS患者。パスの分類・名称が「脳梗塞」となっている。</a:t>
            </a:r>
            <a:endParaRPr lang="en-US" sz="1000" dirty="0"/>
          </a:p>
        </p:txBody>
      </p:sp>
      <p:sp>
        <p:nvSpPr>
          <p:cNvPr id="28" name="Text 26"/>
          <p:cNvSpPr/>
          <p:nvPr/>
        </p:nvSpPr>
        <p:spPr>
          <a:xfrm>
            <a:off x="4389120" y="5623560"/>
            <a:ext cx="3383280" cy="594360"/>
          </a:xfrm>
          <a:prstGeom prst="rect">
            <a:avLst/>
          </a:prstGeom>
          <a:noFill/>
          <a:ln/>
        </p:spPr>
        <p:txBody>
          <a:bodyPr wrap="square" lIns="0" tIns="0" rIns="0" bIns="0" rtlCol="0" anchor="t"/>
          <a:lstStyle/>
          <a:p>
            <a:pPr indent="0" marL="0">
              <a:lnSpc>
                <a:spcPct val="110000"/>
              </a:lnSpc>
              <a:buNone/>
            </a:pPr>
            <a:r>
              <a:rPr lang="en-US" sz="1000" b="1" dirty="0">
                <a:solidFill>
                  <a:srgbClr val="B7791F"/>
                </a:solidFill>
                <a:latin typeface="Meiryo" pitchFamily="34" charset="0"/>
                <a:ea typeface="Meiryo" pitchFamily="34" charset="-122"/>
                <a:cs typeface="Meiryo" pitchFamily="34" charset="-120"/>
              </a:rPr>
              <a:t>→ パス14(ALS・エダラボン)へ移行し名称を是正</a:t>
            </a:r>
            <a:endParaRPr lang="en-US" sz="1000" dirty="0"/>
          </a:p>
        </p:txBody>
      </p:sp>
      <p:sp>
        <p:nvSpPr>
          <p:cNvPr id="29" name="Shape 27"/>
          <p:cNvSpPr/>
          <p:nvPr/>
        </p:nvSpPr>
        <p:spPr>
          <a:xfrm>
            <a:off x="8183880" y="3977640"/>
            <a:ext cx="3657600" cy="2331720"/>
          </a:xfrm>
          <a:prstGeom prst="roundRect">
            <a:avLst>
              <a:gd name="adj" fmla="val 2353"/>
            </a:avLst>
          </a:prstGeom>
          <a:solidFill>
            <a:srgbClr val="FCE8E8"/>
          </a:solidFill>
          <a:ln w="15875">
            <a:solidFill>
              <a:srgbClr val="C53030"/>
            </a:solidFill>
            <a:prstDash val="solid"/>
          </a:ln>
        </p:spPr>
      </p:sp>
      <p:sp>
        <p:nvSpPr>
          <p:cNvPr id="30" name="Text 28"/>
          <p:cNvSpPr/>
          <p:nvPr/>
        </p:nvSpPr>
        <p:spPr>
          <a:xfrm>
            <a:off x="8321040" y="4087368"/>
            <a:ext cx="3383280" cy="365760"/>
          </a:xfrm>
          <a:prstGeom prst="rect">
            <a:avLst/>
          </a:prstGeom>
          <a:noFill/>
          <a:ln/>
        </p:spPr>
        <p:txBody>
          <a:bodyPr wrap="square" lIns="0" tIns="0" rIns="0" bIns="0" rtlCol="0" anchor="ctr"/>
          <a:lstStyle/>
          <a:p>
            <a:pPr indent="0" marL="0">
              <a:buNone/>
            </a:pPr>
            <a:r>
              <a:rPr lang="en-US" sz="1250" b="1" dirty="0">
                <a:solidFill>
                  <a:srgbClr val="2D3748"/>
                </a:solidFill>
                <a:latin typeface="Meiryo" pitchFamily="34" charset="0"/>
                <a:ea typeface="Meiryo" pitchFamily="34" charset="-122"/>
                <a:cs typeface="Meiryo" pitchFamily="34" charset="-120"/>
              </a:rPr>
              <a:t>仮説(c) 適応外使用 ⚠</a:t>
            </a:r>
            <a:endParaRPr lang="en-US" sz="1250" dirty="0"/>
          </a:p>
        </p:txBody>
      </p:sp>
      <p:sp>
        <p:nvSpPr>
          <p:cNvPr id="31" name="Text 29"/>
          <p:cNvSpPr/>
          <p:nvPr/>
        </p:nvSpPr>
        <p:spPr>
          <a:xfrm>
            <a:off x="8321040" y="4480560"/>
            <a:ext cx="3383280" cy="1051560"/>
          </a:xfrm>
          <a:prstGeom prst="rect">
            <a:avLst/>
          </a:prstGeom>
          <a:noFill/>
          <a:ln/>
        </p:spPr>
        <p:txBody>
          <a:bodyPr wrap="square" lIns="0" tIns="0" rIns="0" bIns="0" rtlCol="0" anchor="t"/>
          <a:lstStyle/>
          <a:p>
            <a:pPr indent="0" marL="0">
              <a:lnSpc>
                <a:spcPct val="115000"/>
              </a:lnSpc>
              <a:buNone/>
            </a:pPr>
            <a:r>
              <a:rPr lang="en-US" sz="1000" dirty="0">
                <a:solidFill>
                  <a:srgbClr val="2D3748"/>
                </a:solidFill>
                <a:latin typeface="Meiryo" pitchFamily="34" charset="0"/>
                <a:ea typeface="Meiryo" pitchFamily="34" charset="-122"/>
                <a:cs typeface="Meiryo" pitchFamily="34" charset="-120"/>
              </a:rPr>
              <a:t>脳梗塞患者に対して、適応を有しない経口剤を投与している。</a:t>
            </a:r>
            <a:endParaRPr lang="en-US" sz="1000" dirty="0"/>
          </a:p>
        </p:txBody>
      </p:sp>
      <p:sp>
        <p:nvSpPr>
          <p:cNvPr id="32" name="Text 30"/>
          <p:cNvSpPr/>
          <p:nvPr/>
        </p:nvSpPr>
        <p:spPr>
          <a:xfrm>
            <a:off x="8321040" y="5623560"/>
            <a:ext cx="3383280" cy="594360"/>
          </a:xfrm>
          <a:prstGeom prst="rect">
            <a:avLst/>
          </a:prstGeom>
          <a:noFill/>
          <a:ln/>
        </p:spPr>
        <p:txBody>
          <a:bodyPr wrap="square" lIns="0" tIns="0" rIns="0" bIns="0" rtlCol="0" anchor="t"/>
          <a:lstStyle/>
          <a:p>
            <a:pPr indent="0" marL="0">
              <a:lnSpc>
                <a:spcPct val="110000"/>
              </a:lnSpc>
              <a:buNone/>
            </a:pPr>
            <a:r>
              <a:rPr lang="en-US" sz="1000" b="1" dirty="0">
                <a:solidFill>
                  <a:srgbClr val="C53030"/>
                </a:solidFill>
                <a:latin typeface="Meiryo" pitchFamily="34" charset="0"/>
                <a:ea typeface="Meiryo" pitchFamily="34" charset="-122"/>
                <a:cs typeface="Meiryo" pitchFamily="34" charset="-120"/>
              </a:rPr>
              <a:t>→ 直ちに薬事委員会・医療安全部門へ報告。運用を停止し個別評価</a:t>
            </a:r>
            <a:endParaRPr lang="en-US" sz="1000" dirty="0"/>
          </a:p>
        </p:txBody>
      </p:sp>
      <p:sp>
        <p:nvSpPr>
          <p:cNvPr id="33" name="Shape 31"/>
          <p:cNvSpPr/>
          <p:nvPr/>
        </p:nvSpPr>
        <p:spPr>
          <a:xfrm>
            <a:off x="320040" y="6492240"/>
            <a:ext cx="11521440" cy="777240"/>
          </a:xfrm>
          <a:prstGeom prst="roundRect">
            <a:avLst>
              <a:gd name="adj" fmla="val 7059"/>
            </a:avLst>
          </a:prstGeom>
          <a:solidFill>
            <a:srgbClr val="E8EEF5"/>
          </a:solidFill>
          <a:ln w="12700">
            <a:solidFill>
              <a:srgbClr val="B8CCE4"/>
            </a:solidFill>
            <a:prstDash val="solid"/>
          </a:ln>
        </p:spPr>
      </p:sp>
      <p:sp>
        <p:nvSpPr>
          <p:cNvPr id="34" name="Text 32"/>
          <p:cNvSpPr/>
          <p:nvPr/>
        </p:nvSpPr>
        <p:spPr>
          <a:xfrm>
            <a:off x="502920" y="6565392"/>
            <a:ext cx="11155680" cy="640080"/>
          </a:xfrm>
          <a:prstGeom prst="rect">
            <a:avLst/>
          </a:prstGeom>
          <a:noFill/>
          <a:ln/>
        </p:spPr>
        <p:txBody>
          <a:bodyPr wrap="square" lIns="0" tIns="0" rIns="0" bIns="0" rtlCol="0" anchor="t"/>
          <a:lstStyle/>
          <a:p>
            <a:pPr indent="0" marL="0">
              <a:lnSpc>
                <a:spcPct val="110000"/>
              </a:lnSpc>
              <a:buNone/>
            </a:pPr>
            <a:r>
              <a:rPr lang="en-US" sz="1100" b="1" dirty="0">
                <a:solidFill>
                  <a:srgbClr val="1E3A5F"/>
                </a:solidFill>
                <a:latin typeface="Meiryo" pitchFamily="34" charset="0"/>
                <a:ea typeface="Meiryo" pitchFamily="34" charset="-122"/>
                <a:cs typeface="Meiryo" pitchFamily="34" charset="-120"/>
              </a:rPr>
              <a:t>第1段階(最優先・他パスに先行して実施)：</a:t>
            </a:r>
            <a:endParaRPr lang="en-US" sz="1100" dirty="0"/>
          </a:p>
          <a:p>
            <a:pPr indent="0" marL="0">
              <a:lnSpc>
                <a:spcPct val="110000"/>
              </a:lnSpc>
              <a:buNone/>
            </a:pPr>
            <a:r>
              <a:rPr lang="en-US" sz="1050" dirty="0">
                <a:solidFill>
                  <a:srgbClr val="2D3748"/>
                </a:solidFill>
                <a:latin typeface="Meiryo" pitchFamily="34" charset="0"/>
                <a:ea typeface="Meiryo" pitchFamily="34" charset="-122"/>
                <a:cs typeface="Meiryo" pitchFamily="34" charset="-120"/>
              </a:rPr>
              <a:t>パスマスタに登録された薬剤の剤形(F2)と、適用症例の傷病名(F3)を確認する。現に投与中の患者がいる場合は、直ちに主治医・薬剤部・医療安全部門へ報告する。</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2026-08-19T05:04:56Z</dcterms:created>
  <dcterms:modified xsi:type="dcterms:W3CDTF">2026-08-19T05:04:56Z</dcterms:modified>
</cp:coreProperties>
</file>